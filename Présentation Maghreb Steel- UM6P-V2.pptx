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Lst>
  <p:notesMasterIdLst>
    <p:notesMasterId r:id="rId17"/>
  </p:notesMasterIdLst>
  <p:sldIdLst>
    <p:sldId id="256" r:id="rId3"/>
    <p:sldId id="301" r:id="rId4"/>
    <p:sldId id="305" r:id="rId5"/>
    <p:sldId id="327" r:id="rId6"/>
    <p:sldId id="328" r:id="rId7"/>
    <p:sldId id="329" r:id="rId8"/>
    <p:sldId id="330" r:id="rId9"/>
    <p:sldId id="331" r:id="rId10"/>
    <p:sldId id="332" r:id="rId11"/>
    <p:sldId id="333" r:id="rId12"/>
    <p:sldId id="334" r:id="rId13"/>
    <p:sldId id="335" r:id="rId14"/>
    <p:sldId id="336" r:id="rId15"/>
    <p:sldId id="337" r:id="rId16"/>
  </p:sldIdLst>
  <p:sldSz cx="9144000" cy="5143500" type="screen16x9"/>
  <p:notesSz cx="6797675" cy="9928225"/>
  <p:embeddedFontLst>
    <p:embeddedFont>
      <p:font typeface="Cambria" panose="02040503050406030204" pitchFamily="18" charset="0"/>
      <p:regular r:id="rId18"/>
      <p:bold r:id="rId19"/>
      <p:italic r:id="rId20"/>
      <p:boldItalic r:id="rId21"/>
    </p:embeddedFont>
    <p:embeddedFont>
      <p:font typeface="Open Sans Light" panose="020B0306030504020204" pitchFamily="34" charset="0"/>
      <p:regular r:id="rId22"/>
      <p:bold r:id="rId23"/>
      <p:italic r:id="rId24"/>
      <p:boldItalic r:id="rId25"/>
    </p:embeddedFont>
  </p:embeddedFontLst>
  <p:custDataLst>
    <p:tags r:id="rId2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2286F75-CF25-4FAA-BB7B-DF56BE3A259E}">
  <a:tblStyle styleId="{32286F75-CF25-4FAA-BB7B-DF56BE3A259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94" autoAdjust="0"/>
    <p:restoredTop sz="85635" autoAdjust="0"/>
  </p:normalViewPr>
  <p:slideViewPr>
    <p:cSldViewPr snapToGrid="0">
      <p:cViewPr varScale="1">
        <p:scale>
          <a:sx n="126" d="100"/>
          <a:sy n="126" d="100"/>
        </p:scale>
        <p:origin x="394"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2.fntdata"/><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l EL HAJJOUJI" userId="e884ca31-5ad2-4d7c-9f4a-53df9136dc78" providerId="ADAL" clId="{DA8C7E0F-0FAF-46A3-9C39-9800766A634E}"/>
    <pc:docChg chg="custSel modSld">
      <pc:chgData name="Amal EL HAJJOUJI" userId="e884ca31-5ad2-4d7c-9f4a-53df9136dc78" providerId="ADAL" clId="{DA8C7E0F-0FAF-46A3-9C39-9800766A634E}" dt="2026-05-18T14:15:18.117" v="66" actId="1076"/>
      <pc:docMkLst>
        <pc:docMk/>
      </pc:docMkLst>
      <pc:sldChg chg="modSp mod">
        <pc:chgData name="Amal EL HAJJOUJI" userId="e884ca31-5ad2-4d7c-9f4a-53df9136dc78" providerId="ADAL" clId="{DA8C7E0F-0FAF-46A3-9C39-9800766A634E}" dt="2026-05-16T10:37:24.969" v="37" actId="20577"/>
        <pc:sldMkLst>
          <pc:docMk/>
          <pc:sldMk cId="0" sldId="256"/>
        </pc:sldMkLst>
        <pc:spChg chg="mod">
          <ac:chgData name="Amal EL HAJJOUJI" userId="e884ca31-5ad2-4d7c-9f4a-53df9136dc78" providerId="ADAL" clId="{DA8C7E0F-0FAF-46A3-9C39-9800766A634E}" dt="2026-05-16T10:37:24.969" v="37" actId="20577"/>
          <ac:spMkLst>
            <pc:docMk/>
            <pc:sldMk cId="0" sldId="256"/>
            <ac:spMk id="10" creationId="{47A2354B-ED11-4C55-857A-0B419E60D548}"/>
          </ac:spMkLst>
        </pc:spChg>
      </pc:sldChg>
      <pc:sldChg chg="addSp delSp modSp mod">
        <pc:chgData name="Amal EL HAJJOUJI" userId="e884ca31-5ad2-4d7c-9f4a-53df9136dc78" providerId="ADAL" clId="{DA8C7E0F-0FAF-46A3-9C39-9800766A634E}" dt="2026-05-18T14:15:18.117" v="66" actId="1076"/>
        <pc:sldMkLst>
          <pc:docMk/>
          <pc:sldMk cId="2694707888" sldId="335"/>
        </pc:sldMkLst>
        <pc:picChg chg="add del mod">
          <ac:chgData name="Amal EL HAJJOUJI" userId="e884ca31-5ad2-4d7c-9f4a-53df9136dc78" providerId="ADAL" clId="{DA8C7E0F-0FAF-46A3-9C39-9800766A634E}" dt="2026-05-18T14:09:27.992" v="47" actId="478"/>
          <ac:picMkLst>
            <pc:docMk/>
            <pc:sldMk cId="2694707888" sldId="335"/>
            <ac:picMk id="4" creationId="{FCBB5816-ECC4-6946-9CD3-7E7CD97E3833}"/>
          </ac:picMkLst>
        </pc:picChg>
        <pc:picChg chg="add del mod">
          <ac:chgData name="Amal EL HAJJOUJI" userId="e884ca31-5ad2-4d7c-9f4a-53df9136dc78" providerId="ADAL" clId="{DA8C7E0F-0FAF-46A3-9C39-9800766A634E}" dt="2026-05-18T14:12:48.251" v="52" actId="478"/>
          <ac:picMkLst>
            <pc:docMk/>
            <pc:sldMk cId="2694707888" sldId="335"/>
            <ac:picMk id="6" creationId="{5231B076-1639-C9BF-3AA5-792FF66A58F1}"/>
          </ac:picMkLst>
        </pc:picChg>
        <pc:picChg chg="add del mod">
          <ac:chgData name="Amal EL HAJJOUJI" userId="e884ca31-5ad2-4d7c-9f4a-53df9136dc78" providerId="ADAL" clId="{DA8C7E0F-0FAF-46A3-9C39-9800766A634E}" dt="2026-05-18T14:13:32.791" v="56" actId="478"/>
          <ac:picMkLst>
            <pc:docMk/>
            <pc:sldMk cId="2694707888" sldId="335"/>
            <ac:picMk id="8" creationId="{B6A97428-0824-EAC3-F5E2-A7A9541BF2B3}"/>
          </ac:picMkLst>
        </pc:picChg>
        <pc:picChg chg="add del mod">
          <ac:chgData name="Amal EL HAJJOUJI" userId="e884ca31-5ad2-4d7c-9f4a-53df9136dc78" providerId="ADAL" clId="{DA8C7E0F-0FAF-46A3-9C39-9800766A634E}" dt="2026-05-18T14:15:01.455" v="60" actId="478"/>
          <ac:picMkLst>
            <pc:docMk/>
            <pc:sldMk cId="2694707888" sldId="335"/>
            <ac:picMk id="10" creationId="{5B3ACBE2-8AB2-E807-F1EC-F688B4865CED}"/>
          </ac:picMkLst>
        </pc:picChg>
        <pc:picChg chg="add mod">
          <ac:chgData name="Amal EL HAJJOUJI" userId="e884ca31-5ad2-4d7c-9f4a-53df9136dc78" providerId="ADAL" clId="{DA8C7E0F-0FAF-46A3-9C39-9800766A634E}" dt="2026-05-18T14:15:18.117" v="66" actId="1076"/>
          <ac:picMkLst>
            <pc:docMk/>
            <pc:sldMk cId="2694707888" sldId="335"/>
            <ac:picMk id="12" creationId="{F8E910DE-B659-D776-D6C1-0B87ED1CD7F8}"/>
          </ac:picMkLst>
        </pc:picChg>
      </pc:sldChg>
      <pc:sldChg chg="addSp delSp modSp mod">
        <pc:chgData name="Amal EL HAJJOUJI" userId="e884ca31-5ad2-4d7c-9f4a-53df9136dc78" providerId="ADAL" clId="{DA8C7E0F-0FAF-46A3-9C39-9800766A634E}" dt="2026-05-16T10:55:29.431" v="43" actId="1076"/>
        <pc:sldMkLst>
          <pc:docMk/>
          <pc:sldMk cId="604782004" sldId="337"/>
        </pc:sldMkLst>
        <pc:picChg chg="add mod">
          <ac:chgData name="Amal EL HAJJOUJI" userId="e884ca31-5ad2-4d7c-9f4a-53df9136dc78" providerId="ADAL" clId="{DA8C7E0F-0FAF-46A3-9C39-9800766A634E}" dt="2026-05-16T10:55:29.431" v="43" actId="1076"/>
          <ac:picMkLst>
            <pc:docMk/>
            <pc:sldMk cId="604782004" sldId="337"/>
            <ac:picMk id="6" creationId="{E66B3A43-59D4-5118-85E1-0F7654C0465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68" y="4715907"/>
            <a:ext cx="5438140" cy="4467701"/>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42348f84c3_2_268: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2" name="Google Shape;232;g42348f84c3_2_26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22fd1f5c3_2_66: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2175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22fd1f5c3_2_66: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9477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22fd1f5c3_2_66: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055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22fd1f5c3_2_66: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6624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22fd1f5c3_2_66: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2706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22fd1f5c3_2_66: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078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22fd1f5c3_2_66: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6243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22fd1f5c3_2_66:notes"/>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9888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a:extLst>
            <a:ext uri="{FF2B5EF4-FFF2-40B4-BE49-F238E27FC236}">
              <a16:creationId xmlns:a16="http://schemas.microsoft.com/office/drawing/2014/main" id="{1C411E8E-94A3-B217-8ABE-DEE8B9BD48A1}"/>
            </a:ext>
          </a:extLst>
        </p:cNvPr>
        <p:cNvGrpSpPr/>
        <p:nvPr/>
      </p:nvGrpSpPr>
      <p:grpSpPr>
        <a:xfrm>
          <a:off x="0" y="0"/>
          <a:ext cx="0" cy="0"/>
          <a:chOff x="0" y="0"/>
          <a:chExt cx="0" cy="0"/>
        </a:xfrm>
      </p:grpSpPr>
      <p:sp>
        <p:nvSpPr>
          <p:cNvPr id="295" name="Google Shape;295;g422fd1f5c3_2_66:notes">
            <a:extLst>
              <a:ext uri="{FF2B5EF4-FFF2-40B4-BE49-F238E27FC236}">
                <a16:creationId xmlns:a16="http://schemas.microsoft.com/office/drawing/2014/main" id="{F54B130F-03E4-A07F-41B4-695A9F46F7AF}"/>
              </a:ext>
            </a:extLst>
          </p:cNvPr>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a:extLst>
              <a:ext uri="{FF2B5EF4-FFF2-40B4-BE49-F238E27FC236}">
                <a16:creationId xmlns:a16="http://schemas.microsoft.com/office/drawing/2014/main" id="{0C9F112E-53CC-EFDD-4243-05B96041E1F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9850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a:extLst>
            <a:ext uri="{FF2B5EF4-FFF2-40B4-BE49-F238E27FC236}">
              <a16:creationId xmlns:a16="http://schemas.microsoft.com/office/drawing/2014/main" id="{0050918F-B405-EFC4-0EBD-D0A0190DD0FA}"/>
            </a:ext>
          </a:extLst>
        </p:cNvPr>
        <p:cNvGrpSpPr/>
        <p:nvPr/>
      </p:nvGrpSpPr>
      <p:grpSpPr>
        <a:xfrm>
          <a:off x="0" y="0"/>
          <a:ext cx="0" cy="0"/>
          <a:chOff x="0" y="0"/>
          <a:chExt cx="0" cy="0"/>
        </a:xfrm>
      </p:grpSpPr>
      <p:sp>
        <p:nvSpPr>
          <p:cNvPr id="295" name="Google Shape;295;g422fd1f5c3_2_66:notes">
            <a:extLst>
              <a:ext uri="{FF2B5EF4-FFF2-40B4-BE49-F238E27FC236}">
                <a16:creationId xmlns:a16="http://schemas.microsoft.com/office/drawing/2014/main" id="{52917E7C-9049-FA67-85F7-6BC970F14679}"/>
              </a:ext>
            </a:extLst>
          </p:cNvPr>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a:extLst>
              <a:ext uri="{FF2B5EF4-FFF2-40B4-BE49-F238E27FC236}">
                <a16:creationId xmlns:a16="http://schemas.microsoft.com/office/drawing/2014/main" id="{7539BF33-3E64-E7E6-B4C6-9922EFC78AC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9652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a:extLst>
            <a:ext uri="{FF2B5EF4-FFF2-40B4-BE49-F238E27FC236}">
              <a16:creationId xmlns:a16="http://schemas.microsoft.com/office/drawing/2014/main" id="{545FEEDF-780C-F722-113C-18842D6E3D39}"/>
            </a:ext>
          </a:extLst>
        </p:cNvPr>
        <p:cNvGrpSpPr/>
        <p:nvPr/>
      </p:nvGrpSpPr>
      <p:grpSpPr>
        <a:xfrm>
          <a:off x="0" y="0"/>
          <a:ext cx="0" cy="0"/>
          <a:chOff x="0" y="0"/>
          <a:chExt cx="0" cy="0"/>
        </a:xfrm>
      </p:grpSpPr>
      <p:sp>
        <p:nvSpPr>
          <p:cNvPr id="295" name="Google Shape;295;g422fd1f5c3_2_66:notes">
            <a:extLst>
              <a:ext uri="{FF2B5EF4-FFF2-40B4-BE49-F238E27FC236}">
                <a16:creationId xmlns:a16="http://schemas.microsoft.com/office/drawing/2014/main" id="{55CA3513-5E40-ADDE-338D-01CADB7E4C1D}"/>
              </a:ext>
            </a:extLst>
          </p:cNvPr>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a:extLst>
              <a:ext uri="{FF2B5EF4-FFF2-40B4-BE49-F238E27FC236}">
                <a16:creationId xmlns:a16="http://schemas.microsoft.com/office/drawing/2014/main" id="{30C2E66C-1757-3C76-689C-3C23F501FA5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3031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a:extLst>
            <a:ext uri="{FF2B5EF4-FFF2-40B4-BE49-F238E27FC236}">
              <a16:creationId xmlns:a16="http://schemas.microsoft.com/office/drawing/2014/main" id="{5B006ABD-4270-6C00-A759-B1ED6B568567}"/>
            </a:ext>
          </a:extLst>
        </p:cNvPr>
        <p:cNvGrpSpPr/>
        <p:nvPr/>
      </p:nvGrpSpPr>
      <p:grpSpPr>
        <a:xfrm>
          <a:off x="0" y="0"/>
          <a:ext cx="0" cy="0"/>
          <a:chOff x="0" y="0"/>
          <a:chExt cx="0" cy="0"/>
        </a:xfrm>
      </p:grpSpPr>
      <p:sp>
        <p:nvSpPr>
          <p:cNvPr id="295" name="Google Shape;295;g422fd1f5c3_2_66:notes">
            <a:extLst>
              <a:ext uri="{FF2B5EF4-FFF2-40B4-BE49-F238E27FC236}">
                <a16:creationId xmlns:a16="http://schemas.microsoft.com/office/drawing/2014/main" id="{963F80C8-01A1-6D1E-76FE-9DFEC517EC4B}"/>
              </a:ext>
            </a:extLst>
          </p:cNvPr>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a:extLst>
              <a:ext uri="{FF2B5EF4-FFF2-40B4-BE49-F238E27FC236}">
                <a16:creationId xmlns:a16="http://schemas.microsoft.com/office/drawing/2014/main" id="{25EA6C08-003F-4F28-5198-3271E1159EE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7835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a:extLst>
            <a:ext uri="{FF2B5EF4-FFF2-40B4-BE49-F238E27FC236}">
              <a16:creationId xmlns:a16="http://schemas.microsoft.com/office/drawing/2014/main" id="{6F939285-0407-F19A-90EC-D5DE15E02D81}"/>
            </a:ext>
          </a:extLst>
        </p:cNvPr>
        <p:cNvGrpSpPr/>
        <p:nvPr/>
      </p:nvGrpSpPr>
      <p:grpSpPr>
        <a:xfrm>
          <a:off x="0" y="0"/>
          <a:ext cx="0" cy="0"/>
          <a:chOff x="0" y="0"/>
          <a:chExt cx="0" cy="0"/>
        </a:xfrm>
      </p:grpSpPr>
      <p:sp>
        <p:nvSpPr>
          <p:cNvPr id="295" name="Google Shape;295;g422fd1f5c3_2_66:notes">
            <a:extLst>
              <a:ext uri="{FF2B5EF4-FFF2-40B4-BE49-F238E27FC236}">
                <a16:creationId xmlns:a16="http://schemas.microsoft.com/office/drawing/2014/main" id="{FDA45B93-F25C-3694-3620-0F0F83F4CDBA}"/>
              </a:ext>
            </a:extLst>
          </p:cNvPr>
          <p:cNvSpPr txBox="1">
            <a:spLocks noGrp="1"/>
          </p:cNvSpPr>
          <p:nvPr>
            <p:ph type="body" idx="1"/>
          </p:nvPr>
        </p:nvSpPr>
        <p:spPr>
          <a:xfrm>
            <a:off x="679768" y="4715907"/>
            <a:ext cx="5438140" cy="4467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6" name="Google Shape;296;g422fd1f5c3_2_66:notes">
            <a:extLst>
              <a:ext uri="{FF2B5EF4-FFF2-40B4-BE49-F238E27FC236}">
                <a16:creationId xmlns:a16="http://schemas.microsoft.com/office/drawing/2014/main" id="{54096AE2-6367-6861-5DE7-3141F99E285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0042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1">
  <p:cSld name="background-1">
    <p:spTree>
      <p:nvGrpSpPr>
        <p:cNvPr id="1" name="Shape 56"/>
        <p:cNvGrpSpPr/>
        <p:nvPr/>
      </p:nvGrpSpPr>
      <p:grpSpPr>
        <a:xfrm>
          <a:off x="0" y="0"/>
          <a:ext cx="0" cy="0"/>
          <a:chOff x="0" y="0"/>
          <a:chExt cx="0" cy="0"/>
        </a:xfrm>
      </p:grpSpPr>
      <p:sp>
        <p:nvSpPr>
          <p:cNvPr id="57" name="Google Shape;57;p14"/>
          <p:cNvSpPr>
            <a:spLocks noGrp="1"/>
          </p:cNvSpPr>
          <p:nvPr>
            <p:ph type="pic" idx="2"/>
          </p:nvPr>
        </p:nvSpPr>
        <p:spPr>
          <a:xfrm>
            <a:off x="0" y="1"/>
            <a:ext cx="9144000" cy="5143500"/>
          </a:xfrm>
          <a:prstGeom prst="rect">
            <a:avLst/>
          </a:prstGeom>
          <a:noFill/>
          <a:ln>
            <a:noFill/>
          </a:ln>
        </p:spPr>
        <p:txBody>
          <a:bodyPr spcFirstLastPara="1" wrap="square" lIns="68575" tIns="34275" rIns="68575" bIns="34275" anchor="t" anchorCtr="0"/>
          <a:lstStyle>
            <a:lvl1pPr marR="0" lvl="0" algn="l" rtl="0">
              <a:lnSpc>
                <a:spcPct val="90000"/>
              </a:lnSpc>
              <a:spcBef>
                <a:spcPts val="800"/>
              </a:spcBef>
              <a:spcAft>
                <a:spcPts val="0"/>
              </a:spcAft>
              <a:buClr>
                <a:schemeClr val="dk1"/>
              </a:buClr>
              <a:buSzPts val="1500"/>
              <a:buFont typeface="Arial"/>
              <a:buNone/>
              <a:defRPr sz="1500" b="0" i="0" u="none" strike="noStrike" cap="none">
                <a:solidFill>
                  <a:schemeClr val="dk1"/>
                </a:solidFill>
                <a:latin typeface="Open Sans Light"/>
                <a:ea typeface="Open Sans Light"/>
                <a:cs typeface="Open Sans Light"/>
                <a:sym typeface="Open Sans Light"/>
              </a:defRPr>
            </a:lvl1pPr>
            <a:lvl2pPr marR="0" lvl="1"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Page">
  <p:cSld name="Blank Page">
    <p:spTree>
      <p:nvGrpSpPr>
        <p:cNvPr id="1" name="Shape 58"/>
        <p:cNvGrpSpPr/>
        <p:nvPr/>
      </p:nvGrpSpPr>
      <p:grpSpPr>
        <a:xfrm>
          <a:off x="0" y="0"/>
          <a:ext cx="0" cy="0"/>
          <a:chOff x="0" y="0"/>
          <a:chExt cx="0" cy="0"/>
        </a:xfrm>
      </p:grpSpPr>
      <p:sp>
        <p:nvSpPr>
          <p:cNvPr id="59" name="Google Shape;59;p15"/>
          <p:cNvSpPr>
            <a:spLocks noGrp="1"/>
          </p:cNvSpPr>
          <p:nvPr>
            <p:ph type="pic" idx="2"/>
          </p:nvPr>
        </p:nvSpPr>
        <p:spPr>
          <a:xfrm>
            <a:off x="7315200" y="0"/>
            <a:ext cx="1828800" cy="1828800"/>
          </a:xfrm>
          <a:prstGeom prst="rect">
            <a:avLst/>
          </a:prstGeom>
          <a:noFill/>
          <a:ln>
            <a:noFill/>
          </a:ln>
        </p:spPr>
        <p:txBody>
          <a:bodyPr spcFirstLastPara="1" wrap="square" lIns="68575" tIns="34275" rIns="68575" bIns="34275" anchor="t" anchorCtr="0"/>
          <a:lstStyle>
            <a:lvl1pPr marR="0" lvl="0" algn="l" rtl="0">
              <a:lnSpc>
                <a:spcPct val="90000"/>
              </a:lnSpc>
              <a:spcBef>
                <a:spcPts val="800"/>
              </a:spcBef>
              <a:spcAft>
                <a:spcPts val="0"/>
              </a:spcAft>
              <a:buClr>
                <a:schemeClr val="dk1"/>
              </a:buClr>
              <a:buSzPts val="1500"/>
              <a:buFont typeface="Arial"/>
              <a:buNone/>
              <a:defRPr sz="1500" b="0" i="0" u="none" strike="noStrike" cap="none">
                <a:solidFill>
                  <a:schemeClr val="dk1"/>
                </a:solidFill>
                <a:latin typeface="Open Sans Light"/>
                <a:ea typeface="Open Sans Light"/>
                <a:cs typeface="Open Sans Light"/>
                <a:sym typeface="Open Sans Light"/>
              </a:defRPr>
            </a:lvl1pPr>
            <a:lvl2pPr marR="0" lvl="1"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0" name="Google Shape;60;p15"/>
          <p:cNvSpPr>
            <a:spLocks noGrp="1"/>
          </p:cNvSpPr>
          <p:nvPr>
            <p:ph type="pic" idx="3"/>
          </p:nvPr>
        </p:nvSpPr>
        <p:spPr>
          <a:xfrm>
            <a:off x="0" y="0"/>
            <a:ext cx="1828800" cy="1828800"/>
          </a:xfrm>
          <a:prstGeom prst="rect">
            <a:avLst/>
          </a:prstGeom>
          <a:noFill/>
          <a:ln>
            <a:noFill/>
          </a:ln>
        </p:spPr>
        <p:txBody>
          <a:bodyPr spcFirstLastPara="1" wrap="square" lIns="68575" tIns="34275" rIns="68575" bIns="34275" anchor="t" anchorCtr="0"/>
          <a:lstStyle>
            <a:lvl1pPr marR="0" lvl="0" algn="l" rtl="0">
              <a:lnSpc>
                <a:spcPct val="90000"/>
              </a:lnSpc>
              <a:spcBef>
                <a:spcPts val="800"/>
              </a:spcBef>
              <a:spcAft>
                <a:spcPts val="0"/>
              </a:spcAft>
              <a:buClr>
                <a:schemeClr val="dk1"/>
              </a:buClr>
              <a:buSzPts val="1500"/>
              <a:buFont typeface="Arial"/>
              <a:buNone/>
              <a:defRPr sz="1500" b="0" i="0" u="none" strike="noStrike" cap="none">
                <a:solidFill>
                  <a:schemeClr val="dk1"/>
                </a:solidFill>
                <a:latin typeface="Open Sans Light"/>
                <a:ea typeface="Open Sans Light"/>
                <a:cs typeface="Open Sans Light"/>
                <a:sym typeface="Open Sans Light"/>
              </a:defRPr>
            </a:lvl1pPr>
            <a:lvl2pPr marR="0" lvl="1"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5"/>
          <p:cNvSpPr>
            <a:spLocks noGrp="1"/>
          </p:cNvSpPr>
          <p:nvPr>
            <p:ph type="pic" idx="4"/>
          </p:nvPr>
        </p:nvSpPr>
        <p:spPr>
          <a:xfrm>
            <a:off x="1828800" y="1828800"/>
            <a:ext cx="1828800" cy="1828800"/>
          </a:xfrm>
          <a:prstGeom prst="rect">
            <a:avLst/>
          </a:prstGeom>
          <a:noFill/>
          <a:ln>
            <a:noFill/>
          </a:ln>
        </p:spPr>
        <p:txBody>
          <a:bodyPr spcFirstLastPara="1" wrap="square" lIns="68575" tIns="34275" rIns="68575" bIns="34275" anchor="t" anchorCtr="0"/>
          <a:lstStyle>
            <a:lvl1pPr marR="0" lvl="0" algn="l" rtl="0">
              <a:lnSpc>
                <a:spcPct val="90000"/>
              </a:lnSpc>
              <a:spcBef>
                <a:spcPts val="800"/>
              </a:spcBef>
              <a:spcAft>
                <a:spcPts val="0"/>
              </a:spcAft>
              <a:buClr>
                <a:schemeClr val="dk1"/>
              </a:buClr>
              <a:buSzPts val="1500"/>
              <a:buFont typeface="Arial"/>
              <a:buNone/>
              <a:defRPr sz="1500" b="0" i="0" u="none" strike="noStrike" cap="none">
                <a:solidFill>
                  <a:schemeClr val="dk1"/>
                </a:solidFill>
                <a:latin typeface="Open Sans Light"/>
                <a:ea typeface="Open Sans Light"/>
                <a:cs typeface="Open Sans Light"/>
                <a:sym typeface="Open Sans Light"/>
              </a:defRPr>
            </a:lvl1pPr>
            <a:lvl2pPr marR="0" lvl="1"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2" name="Google Shape;62;p15"/>
          <p:cNvSpPr>
            <a:spLocks noGrp="1"/>
          </p:cNvSpPr>
          <p:nvPr>
            <p:ph type="pic" idx="5"/>
          </p:nvPr>
        </p:nvSpPr>
        <p:spPr>
          <a:xfrm>
            <a:off x="3657600" y="0"/>
            <a:ext cx="1828800" cy="1828800"/>
          </a:xfrm>
          <a:prstGeom prst="rect">
            <a:avLst/>
          </a:prstGeom>
          <a:noFill/>
          <a:ln>
            <a:noFill/>
          </a:ln>
        </p:spPr>
        <p:txBody>
          <a:bodyPr spcFirstLastPara="1" wrap="square" lIns="68575" tIns="34275" rIns="68575" bIns="34275" anchor="t" anchorCtr="0"/>
          <a:lstStyle>
            <a:lvl1pPr marR="0" lvl="0" algn="l" rtl="0">
              <a:lnSpc>
                <a:spcPct val="90000"/>
              </a:lnSpc>
              <a:spcBef>
                <a:spcPts val="800"/>
              </a:spcBef>
              <a:spcAft>
                <a:spcPts val="0"/>
              </a:spcAft>
              <a:buClr>
                <a:schemeClr val="dk1"/>
              </a:buClr>
              <a:buSzPts val="1500"/>
              <a:buFont typeface="Arial"/>
              <a:buNone/>
              <a:defRPr sz="1500" b="0" i="0" u="none" strike="noStrike" cap="none">
                <a:solidFill>
                  <a:schemeClr val="dk1"/>
                </a:solidFill>
                <a:latin typeface="Open Sans Light"/>
                <a:ea typeface="Open Sans Light"/>
                <a:cs typeface="Open Sans Light"/>
                <a:sym typeface="Open Sans Light"/>
              </a:defRPr>
            </a:lvl1pPr>
            <a:lvl2pPr marR="0" lvl="1"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3" name="Google Shape;63;p15"/>
          <p:cNvSpPr>
            <a:spLocks noGrp="1"/>
          </p:cNvSpPr>
          <p:nvPr>
            <p:ph type="pic" idx="6"/>
          </p:nvPr>
        </p:nvSpPr>
        <p:spPr>
          <a:xfrm>
            <a:off x="5486400" y="1828800"/>
            <a:ext cx="1828800" cy="1828800"/>
          </a:xfrm>
          <a:prstGeom prst="rect">
            <a:avLst/>
          </a:prstGeom>
          <a:noFill/>
          <a:ln>
            <a:noFill/>
          </a:ln>
        </p:spPr>
        <p:txBody>
          <a:bodyPr spcFirstLastPara="1" wrap="square" lIns="68575" tIns="34275" rIns="68575" bIns="34275" anchor="t" anchorCtr="0"/>
          <a:lstStyle>
            <a:lvl1pPr marR="0" lvl="0" algn="l" rtl="0">
              <a:lnSpc>
                <a:spcPct val="90000"/>
              </a:lnSpc>
              <a:spcBef>
                <a:spcPts val="800"/>
              </a:spcBef>
              <a:spcAft>
                <a:spcPts val="0"/>
              </a:spcAft>
              <a:buClr>
                <a:schemeClr val="dk1"/>
              </a:buClr>
              <a:buSzPts val="1500"/>
              <a:buFont typeface="Arial"/>
              <a:buNone/>
              <a:defRPr sz="1500" b="0" i="0" u="none" strike="noStrike" cap="none">
                <a:solidFill>
                  <a:schemeClr val="dk1"/>
                </a:solidFill>
                <a:latin typeface="Open Sans Light"/>
                <a:ea typeface="Open Sans Light"/>
                <a:cs typeface="Open Sans Light"/>
                <a:sym typeface="Open Sans Light"/>
              </a:defRPr>
            </a:lvl1pPr>
            <a:lvl2pPr marR="0" lvl="1"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lstStyle>
            <a:lvl1pPr marR="0" lvl="0" algn="l" rtl="0">
              <a:lnSpc>
                <a:spcPct val="90000"/>
              </a:lnSpc>
              <a:spcBef>
                <a:spcPts val="0"/>
              </a:spcBef>
              <a:spcAft>
                <a:spcPts val="0"/>
              </a:spcAft>
              <a:buClr>
                <a:schemeClr val="dk1"/>
              </a:buClr>
              <a:buSzPts val="2400"/>
              <a:buFont typeface="Open Sans Light"/>
              <a:buNone/>
              <a:defRPr sz="2400" b="0" i="0" u="none" strike="noStrike" cap="none">
                <a:solidFill>
                  <a:schemeClr val="dk1"/>
                </a:solidFill>
                <a:latin typeface="Open Sans Light"/>
                <a:ea typeface="Open Sans Light"/>
                <a:cs typeface="Open Sans Light"/>
                <a:sym typeface="Open Sans Light"/>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lstStyle>
            <a:lvl1pPr marL="457200" marR="0" lvl="0" indent="-228600" algn="l" rtl="0">
              <a:lnSpc>
                <a:spcPct val="90000"/>
              </a:lnSpc>
              <a:spcBef>
                <a:spcPts val="800"/>
              </a:spcBef>
              <a:spcAft>
                <a:spcPts val="0"/>
              </a:spcAft>
              <a:buClr>
                <a:schemeClr val="dk1"/>
              </a:buClr>
              <a:buSzPts val="1500"/>
              <a:buFont typeface="Arial"/>
              <a:buNone/>
              <a:defRPr sz="1500" b="0" i="0" u="none" strike="noStrike" cap="none">
                <a:solidFill>
                  <a:schemeClr val="dk1"/>
                </a:solidFill>
                <a:latin typeface="Open Sans Light"/>
                <a:ea typeface="Open Sans Light"/>
                <a:cs typeface="Open Sans Light"/>
                <a:sym typeface="Open Sans Light"/>
              </a:defRPr>
            </a:lvl1pPr>
            <a:lvl2pPr marL="914400" marR="0" lvl="1" indent="-228600"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lstStyle>
            <a:lvl1pPr marR="0" lvl="0" algn="l" rtl="0">
              <a:spcBef>
                <a:spcPts val="0"/>
              </a:spcBef>
              <a:spcAft>
                <a:spcPts val="0"/>
              </a:spcAft>
              <a:buSzPts val="1100"/>
              <a:buNone/>
              <a:defRPr sz="900" b="0" i="0" u="none" strike="noStrike" cap="none">
                <a:solidFill>
                  <a:srgbClr val="888888"/>
                </a:solidFill>
                <a:latin typeface="Open Sans Light"/>
                <a:ea typeface="Open Sans Light"/>
                <a:cs typeface="Open Sans Light"/>
                <a:sym typeface="Open Sans Light"/>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lstStyle>
            <a:lvl1pPr marR="0" lvl="0" algn="ctr" rtl="0">
              <a:spcBef>
                <a:spcPts val="0"/>
              </a:spcBef>
              <a:spcAft>
                <a:spcPts val="0"/>
              </a:spcAft>
              <a:buSzPts val="1100"/>
              <a:buNone/>
              <a:defRPr sz="900" b="0" i="0" u="none" strike="noStrike" cap="none">
                <a:solidFill>
                  <a:srgbClr val="888888"/>
                </a:solidFill>
                <a:latin typeface="Open Sans Light"/>
                <a:ea typeface="Open Sans Light"/>
                <a:cs typeface="Open Sans Light"/>
                <a:sym typeface="Open Sans Light"/>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Open Sans Light"/>
                <a:ea typeface="Open Sans Light"/>
                <a:cs typeface="Open Sans Light"/>
                <a:sym typeface="Open Sans Light"/>
              </a:defRPr>
            </a:lvl1pPr>
            <a:lvl2pPr marL="0" marR="0" lvl="1" indent="0" algn="r" rtl="0">
              <a:spcBef>
                <a:spcPts val="0"/>
              </a:spcBef>
              <a:buNone/>
              <a:defRPr sz="900" b="0" i="0" u="none" strike="noStrike" cap="none">
                <a:solidFill>
                  <a:srgbClr val="888888"/>
                </a:solidFill>
                <a:latin typeface="Open Sans Light"/>
                <a:ea typeface="Open Sans Light"/>
                <a:cs typeface="Open Sans Light"/>
                <a:sym typeface="Open Sans Light"/>
              </a:defRPr>
            </a:lvl2pPr>
            <a:lvl3pPr marL="0" marR="0" lvl="2" indent="0" algn="r" rtl="0">
              <a:spcBef>
                <a:spcPts val="0"/>
              </a:spcBef>
              <a:buNone/>
              <a:defRPr sz="900" b="0" i="0" u="none" strike="noStrike" cap="none">
                <a:solidFill>
                  <a:srgbClr val="888888"/>
                </a:solidFill>
                <a:latin typeface="Open Sans Light"/>
                <a:ea typeface="Open Sans Light"/>
                <a:cs typeface="Open Sans Light"/>
                <a:sym typeface="Open Sans Light"/>
              </a:defRPr>
            </a:lvl3pPr>
            <a:lvl4pPr marL="0" marR="0" lvl="3" indent="0" algn="r" rtl="0">
              <a:spcBef>
                <a:spcPts val="0"/>
              </a:spcBef>
              <a:buNone/>
              <a:defRPr sz="900" b="0" i="0" u="none" strike="noStrike" cap="none">
                <a:solidFill>
                  <a:srgbClr val="888888"/>
                </a:solidFill>
                <a:latin typeface="Open Sans Light"/>
                <a:ea typeface="Open Sans Light"/>
                <a:cs typeface="Open Sans Light"/>
                <a:sym typeface="Open Sans Light"/>
              </a:defRPr>
            </a:lvl4pPr>
            <a:lvl5pPr marL="0" marR="0" lvl="4" indent="0" algn="r" rtl="0">
              <a:spcBef>
                <a:spcPts val="0"/>
              </a:spcBef>
              <a:buNone/>
              <a:defRPr sz="900" b="0" i="0" u="none" strike="noStrike" cap="none">
                <a:solidFill>
                  <a:srgbClr val="888888"/>
                </a:solidFill>
                <a:latin typeface="Open Sans Light"/>
                <a:ea typeface="Open Sans Light"/>
                <a:cs typeface="Open Sans Light"/>
                <a:sym typeface="Open Sans Light"/>
              </a:defRPr>
            </a:lvl5pPr>
            <a:lvl6pPr marL="0" marR="0" lvl="5" indent="0" algn="r" rtl="0">
              <a:spcBef>
                <a:spcPts val="0"/>
              </a:spcBef>
              <a:buNone/>
              <a:defRPr sz="900" b="0" i="0" u="none" strike="noStrike" cap="none">
                <a:solidFill>
                  <a:srgbClr val="888888"/>
                </a:solidFill>
                <a:latin typeface="Open Sans Light"/>
                <a:ea typeface="Open Sans Light"/>
                <a:cs typeface="Open Sans Light"/>
                <a:sym typeface="Open Sans Light"/>
              </a:defRPr>
            </a:lvl6pPr>
            <a:lvl7pPr marL="0" marR="0" lvl="6" indent="0" algn="r" rtl="0">
              <a:spcBef>
                <a:spcPts val="0"/>
              </a:spcBef>
              <a:buNone/>
              <a:defRPr sz="900" b="0" i="0" u="none" strike="noStrike" cap="none">
                <a:solidFill>
                  <a:srgbClr val="888888"/>
                </a:solidFill>
                <a:latin typeface="Open Sans Light"/>
                <a:ea typeface="Open Sans Light"/>
                <a:cs typeface="Open Sans Light"/>
                <a:sym typeface="Open Sans Light"/>
              </a:defRPr>
            </a:lvl7pPr>
            <a:lvl8pPr marL="0" marR="0" lvl="7" indent="0" algn="r" rtl="0">
              <a:spcBef>
                <a:spcPts val="0"/>
              </a:spcBef>
              <a:buNone/>
              <a:defRPr sz="900" b="0" i="0" u="none" strike="noStrike" cap="none">
                <a:solidFill>
                  <a:srgbClr val="888888"/>
                </a:solidFill>
                <a:latin typeface="Open Sans Light"/>
                <a:ea typeface="Open Sans Light"/>
                <a:cs typeface="Open Sans Light"/>
                <a:sym typeface="Open Sans Light"/>
              </a:defRPr>
            </a:lvl8pPr>
            <a:lvl9pPr marL="0" marR="0" lvl="8" indent="0" algn="r" rtl="0">
              <a:spcBef>
                <a:spcPts val="0"/>
              </a:spcBef>
              <a:buNone/>
              <a:defRPr sz="900" b="0" i="0" u="none" strike="noStrike" cap="none">
                <a:solidFill>
                  <a:srgbClr val="888888"/>
                </a:solidFill>
                <a:latin typeface="Open Sans Light"/>
                <a:ea typeface="Open Sans Light"/>
                <a:cs typeface="Open Sans Light"/>
                <a:sym typeface="Open Sans Light"/>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0.emf"/><Relationship Id="rId4" Type="http://schemas.openxmlformats.org/officeDocument/2006/relationships/image" Target="../media/image19.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pic>
        <p:nvPicPr>
          <p:cNvPr id="3" name="Google Shape;289;p52">
            <a:extLst>
              <a:ext uri="{FF2B5EF4-FFF2-40B4-BE49-F238E27FC236}">
                <a16:creationId xmlns:a16="http://schemas.microsoft.com/office/drawing/2014/main" id="{9E202A72-36CF-41F7-9A7D-E26C3AF78AA0}"/>
              </a:ext>
            </a:extLst>
          </p:cNvPr>
          <p:cNvPicPr preferRelativeResize="0"/>
          <p:nvPr/>
        </p:nvPicPr>
        <p:blipFill rotWithShape="1">
          <a:blip r:embed="rId3">
            <a:alphaModFix/>
          </a:blip>
          <a:srcRect t="15373" b="11545"/>
          <a:stretch/>
        </p:blipFill>
        <p:spPr>
          <a:xfrm>
            <a:off x="2195439" y="4114051"/>
            <a:ext cx="2376561" cy="689190"/>
          </a:xfrm>
          <a:prstGeom prst="rect">
            <a:avLst/>
          </a:prstGeom>
          <a:noFill/>
          <a:ln>
            <a:noFill/>
          </a:ln>
        </p:spPr>
      </p:pic>
      <p:pic>
        <p:nvPicPr>
          <p:cNvPr id="5" name="Image 4">
            <a:extLst>
              <a:ext uri="{FF2B5EF4-FFF2-40B4-BE49-F238E27FC236}">
                <a16:creationId xmlns:a16="http://schemas.microsoft.com/office/drawing/2014/main" id="{28D4A190-3447-432B-9607-FC5780F727B9}"/>
              </a:ext>
            </a:extLst>
          </p:cNvPr>
          <p:cNvPicPr>
            <a:picLocks noChangeAspect="1"/>
          </p:cNvPicPr>
          <p:nvPr/>
        </p:nvPicPr>
        <p:blipFill rotWithShape="1">
          <a:blip r:embed="rId4"/>
          <a:srcRect l="28160" t="5900" r="27321" b="37400"/>
          <a:stretch/>
        </p:blipFill>
        <p:spPr>
          <a:xfrm>
            <a:off x="6896" y="102526"/>
            <a:ext cx="2694591" cy="2745432"/>
          </a:xfrm>
          <a:prstGeom prst="rect">
            <a:avLst/>
          </a:prstGeom>
        </p:spPr>
      </p:pic>
      <p:pic>
        <p:nvPicPr>
          <p:cNvPr id="6" name="Image 5">
            <a:extLst>
              <a:ext uri="{FF2B5EF4-FFF2-40B4-BE49-F238E27FC236}">
                <a16:creationId xmlns:a16="http://schemas.microsoft.com/office/drawing/2014/main" id="{5CA07635-7688-49E1-9142-6EB35C53B605}"/>
              </a:ext>
            </a:extLst>
          </p:cNvPr>
          <p:cNvPicPr>
            <a:picLocks noChangeAspect="1"/>
          </p:cNvPicPr>
          <p:nvPr/>
        </p:nvPicPr>
        <p:blipFill rotWithShape="1">
          <a:blip r:embed="rId5"/>
          <a:srcRect l="28161" t="6951" r="28160" b="34250"/>
          <a:stretch/>
        </p:blipFill>
        <p:spPr>
          <a:xfrm>
            <a:off x="6585792" y="102526"/>
            <a:ext cx="2549330" cy="2745432"/>
          </a:xfrm>
          <a:prstGeom prst="rect">
            <a:avLst/>
          </a:prstGeom>
        </p:spPr>
      </p:pic>
      <p:pic>
        <p:nvPicPr>
          <p:cNvPr id="7" name="Image 6" descr="Une image contenant bâtiment, intérieur, table, train&#10;&#10;Description générée avec un niveau de confiance très élevé">
            <a:extLst>
              <a:ext uri="{FF2B5EF4-FFF2-40B4-BE49-F238E27FC236}">
                <a16:creationId xmlns:a16="http://schemas.microsoft.com/office/drawing/2014/main" id="{2803FBDD-B676-4EBD-9B92-99D81EAAC6F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74" t="12038" r="17117" b="-1"/>
          <a:stretch/>
        </p:blipFill>
        <p:spPr>
          <a:xfrm>
            <a:off x="2683731" y="102526"/>
            <a:ext cx="3902061" cy="2745432"/>
          </a:xfrm>
          <a:prstGeom prst="rect">
            <a:avLst/>
          </a:prstGeom>
        </p:spPr>
      </p:pic>
      <p:grpSp>
        <p:nvGrpSpPr>
          <p:cNvPr id="9" name="Google Shape;313;p53">
            <a:extLst>
              <a:ext uri="{FF2B5EF4-FFF2-40B4-BE49-F238E27FC236}">
                <a16:creationId xmlns:a16="http://schemas.microsoft.com/office/drawing/2014/main" id="{93EE7867-2AD5-4D3E-937C-88CB9B096C58}"/>
              </a:ext>
            </a:extLst>
          </p:cNvPr>
          <p:cNvGrpSpPr/>
          <p:nvPr/>
        </p:nvGrpSpPr>
        <p:grpSpPr>
          <a:xfrm>
            <a:off x="480015" y="2985541"/>
            <a:ext cx="8183970" cy="717054"/>
            <a:chOff x="192230" y="900783"/>
            <a:chExt cx="7093800" cy="564384"/>
          </a:xfrm>
        </p:grpSpPr>
        <p:sp>
          <p:nvSpPr>
            <p:cNvPr id="10" name="Google Shape;314;p53">
              <a:extLst>
                <a:ext uri="{FF2B5EF4-FFF2-40B4-BE49-F238E27FC236}">
                  <a16:creationId xmlns:a16="http://schemas.microsoft.com/office/drawing/2014/main" id="{47A2354B-ED11-4C55-857A-0B419E60D548}"/>
                </a:ext>
              </a:extLst>
            </p:cNvPr>
            <p:cNvSpPr txBox="1"/>
            <p:nvPr/>
          </p:nvSpPr>
          <p:spPr>
            <a:xfrm>
              <a:off x="192230" y="922714"/>
              <a:ext cx="7093800" cy="542453"/>
            </a:xfrm>
            <a:prstGeom prst="rect">
              <a:avLst/>
            </a:prstGeom>
            <a:noFill/>
            <a:ln>
              <a:noFill/>
            </a:ln>
          </p:spPr>
          <p:txBody>
            <a:bodyPr spcFirstLastPara="1" wrap="square" lIns="68575" tIns="34275" rIns="68575" bIns="34275" anchor="t" anchorCtr="0">
              <a:noAutofit/>
            </a:bodyPr>
            <a:lstStyle/>
            <a:p>
              <a:pPr lvl="0" algn="ctr"/>
              <a:r>
                <a:rPr lang="fr-MA" sz="1700" dirty="0">
                  <a:solidFill>
                    <a:srgbClr val="001B36"/>
                  </a:solidFill>
                  <a:latin typeface="Cambria" panose="02040503050406030204" pitchFamily="18" charset="0"/>
                  <a:ea typeface="Cambria"/>
                  <a:cs typeface="Cambria"/>
                  <a:sym typeface="Cambria"/>
                </a:rPr>
                <a:t>Projet modèle optimisation commande - capacité</a:t>
              </a:r>
              <a:endParaRPr sz="1700" dirty="0">
                <a:solidFill>
                  <a:srgbClr val="001B36"/>
                </a:solidFill>
                <a:latin typeface="Cambria" panose="02040503050406030204" pitchFamily="18" charset="0"/>
                <a:ea typeface="Cambria"/>
                <a:cs typeface="Cambria"/>
                <a:sym typeface="Cambria"/>
              </a:endParaRPr>
            </a:p>
          </p:txBody>
        </p:sp>
        <p:sp>
          <p:nvSpPr>
            <p:cNvPr id="11" name="Google Shape;315;p53">
              <a:extLst>
                <a:ext uri="{FF2B5EF4-FFF2-40B4-BE49-F238E27FC236}">
                  <a16:creationId xmlns:a16="http://schemas.microsoft.com/office/drawing/2014/main" id="{1BBB67CF-2DE5-451B-9C3B-2FF81824017B}"/>
                </a:ext>
              </a:extLst>
            </p:cNvPr>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313" name="Google Shape;313;p53"/>
          <p:cNvGrpSpPr/>
          <p:nvPr/>
        </p:nvGrpSpPr>
        <p:grpSpPr>
          <a:xfrm>
            <a:off x="480015" y="322504"/>
            <a:ext cx="8183970" cy="406840"/>
            <a:chOff x="192230" y="836350"/>
            <a:chExt cx="7093800" cy="542453"/>
          </a:xfrm>
        </p:grpSpPr>
        <p:sp>
          <p:nvSpPr>
            <p:cNvPr id="314" name="Google Shape;314;p53"/>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lvl="0" algn="ctr"/>
              <a:r>
                <a:rPr lang="fr-FR" sz="1700" b="1" dirty="0">
                  <a:solidFill>
                    <a:srgbClr val="001B36"/>
                  </a:solidFill>
                  <a:latin typeface="Cambria" panose="02040503050406030204" pitchFamily="18" charset="0"/>
                  <a:ea typeface="Cambria"/>
                  <a:cs typeface="Cambria"/>
                  <a:sym typeface="Cambria"/>
                </a:rPr>
                <a:t>Maghreb Steel, </a:t>
              </a:r>
              <a:r>
                <a:rPr lang="fr" sz="1700" b="1" dirty="0">
                  <a:solidFill>
                    <a:srgbClr val="001B36"/>
                  </a:solidFill>
                  <a:latin typeface="Cambria" panose="02040503050406030204" pitchFamily="18" charset="0"/>
                  <a:ea typeface="Cambria"/>
                  <a:cs typeface="Cambria"/>
                  <a:sym typeface="Cambria"/>
                </a:rPr>
                <a:t>l</a:t>
              </a:r>
              <a:r>
                <a:rPr lang="fr-FR" sz="1700" b="1" dirty="0" err="1">
                  <a:solidFill>
                    <a:srgbClr val="001B36"/>
                  </a:solidFill>
                  <a:latin typeface="Cambria" panose="02040503050406030204" pitchFamily="18" charset="0"/>
                  <a:ea typeface="Cambria"/>
                  <a:cs typeface="Cambria"/>
                  <a:sym typeface="Cambria"/>
                </a:rPr>
                <a:t>eader</a:t>
              </a:r>
              <a:r>
                <a:rPr lang="fr-FR" sz="1700" b="1" dirty="0">
                  <a:solidFill>
                    <a:srgbClr val="001B36"/>
                  </a:solidFill>
                  <a:latin typeface="Cambria" panose="02040503050406030204" pitchFamily="18" charset="0"/>
                  <a:ea typeface="Cambria"/>
                  <a:cs typeface="Cambria"/>
                  <a:sym typeface="Cambria"/>
                </a:rPr>
                <a:t> marocain de l’industrie sidérurgique des produits plats</a:t>
              </a:r>
              <a:endParaRPr sz="1700" b="1" dirty="0">
                <a:solidFill>
                  <a:srgbClr val="001B36"/>
                </a:solidFill>
                <a:latin typeface="Cambria" panose="02040503050406030204" pitchFamily="18" charset="0"/>
                <a:ea typeface="Cambria"/>
                <a:cs typeface="Cambria"/>
                <a:sym typeface="Cambria"/>
              </a:endParaRPr>
            </a:p>
          </p:txBody>
        </p:sp>
        <p:sp>
          <p:nvSpPr>
            <p:cNvPr id="315" name="Google Shape;315;p53"/>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grpSp>
        <p:nvGrpSpPr>
          <p:cNvPr id="28" name="Google Shape;240;p52">
            <a:extLst>
              <a:ext uri="{FF2B5EF4-FFF2-40B4-BE49-F238E27FC236}">
                <a16:creationId xmlns:a16="http://schemas.microsoft.com/office/drawing/2014/main" id="{43D29331-3E0D-41CD-B3DA-C99E81B5BBAE}"/>
              </a:ext>
            </a:extLst>
          </p:cNvPr>
          <p:cNvGrpSpPr/>
          <p:nvPr/>
        </p:nvGrpSpPr>
        <p:grpSpPr>
          <a:xfrm rot="-5400000">
            <a:off x="2915750" y="3269864"/>
            <a:ext cx="50687" cy="730081"/>
            <a:chOff x="9338695" y="2216156"/>
            <a:chExt cx="67582" cy="973442"/>
          </a:xfrm>
        </p:grpSpPr>
        <p:cxnSp>
          <p:nvCxnSpPr>
            <p:cNvPr id="29" name="Google Shape;241;p52">
              <a:extLst>
                <a:ext uri="{FF2B5EF4-FFF2-40B4-BE49-F238E27FC236}">
                  <a16:creationId xmlns:a16="http://schemas.microsoft.com/office/drawing/2014/main" id="{B0474BBA-C691-447D-9545-C6B668EF6AF3}"/>
                </a:ext>
              </a:extLst>
            </p:cNvPr>
            <p:cNvCxnSpPr/>
            <p:nvPr/>
          </p:nvCxnSpPr>
          <p:spPr>
            <a:xfrm>
              <a:off x="9372486" y="2258334"/>
              <a:ext cx="0" cy="931264"/>
            </a:xfrm>
            <a:prstGeom prst="straightConnector1">
              <a:avLst/>
            </a:prstGeom>
            <a:noFill/>
            <a:ln w="9525" cap="flat" cmpd="sng">
              <a:solidFill>
                <a:srgbClr val="00152A"/>
              </a:solidFill>
              <a:prstDash val="solid"/>
              <a:miter lim="800000"/>
              <a:headEnd type="none" w="sm" len="sm"/>
              <a:tailEnd type="none" w="sm" len="sm"/>
            </a:ln>
          </p:spPr>
        </p:cxnSp>
        <p:sp>
          <p:nvSpPr>
            <p:cNvPr id="30" name="Google Shape;242;p52">
              <a:extLst>
                <a:ext uri="{FF2B5EF4-FFF2-40B4-BE49-F238E27FC236}">
                  <a16:creationId xmlns:a16="http://schemas.microsoft.com/office/drawing/2014/main" id="{99162E29-B6E6-40ED-A43F-BEDBA8666EFF}"/>
                </a:ext>
              </a:extLst>
            </p:cNvPr>
            <p:cNvSpPr/>
            <p:nvPr/>
          </p:nvSpPr>
          <p:spPr>
            <a:xfrm>
              <a:off x="9338695" y="2216156"/>
              <a:ext cx="67582" cy="67582"/>
            </a:xfrm>
            <a:prstGeom prst="ellipse">
              <a:avLst/>
            </a:prstGeom>
            <a:solidFill>
              <a:srgbClr val="00152A"/>
            </a:solidFill>
            <a:ln w="12700" cap="flat" cmpd="sng">
              <a:solidFill>
                <a:srgbClr val="00152A"/>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grpSp>
      <p:grpSp>
        <p:nvGrpSpPr>
          <p:cNvPr id="31" name="Google Shape;243;p52">
            <a:extLst>
              <a:ext uri="{FF2B5EF4-FFF2-40B4-BE49-F238E27FC236}">
                <a16:creationId xmlns:a16="http://schemas.microsoft.com/office/drawing/2014/main" id="{E51642F9-2E1E-4970-8916-94D512250F32}"/>
              </a:ext>
            </a:extLst>
          </p:cNvPr>
          <p:cNvGrpSpPr/>
          <p:nvPr/>
        </p:nvGrpSpPr>
        <p:grpSpPr>
          <a:xfrm rot="-5400000">
            <a:off x="3905259" y="1282380"/>
            <a:ext cx="50687" cy="1835136"/>
            <a:chOff x="6065696" y="2957245"/>
            <a:chExt cx="67582" cy="2446848"/>
          </a:xfrm>
        </p:grpSpPr>
        <p:cxnSp>
          <p:nvCxnSpPr>
            <p:cNvPr id="32" name="Google Shape;244;p52">
              <a:extLst>
                <a:ext uri="{FF2B5EF4-FFF2-40B4-BE49-F238E27FC236}">
                  <a16:creationId xmlns:a16="http://schemas.microsoft.com/office/drawing/2014/main" id="{E3D101BE-D139-41BA-B390-93CD9DAE5639}"/>
                </a:ext>
              </a:extLst>
            </p:cNvPr>
            <p:cNvCxnSpPr/>
            <p:nvPr/>
          </p:nvCxnSpPr>
          <p:spPr>
            <a:xfrm>
              <a:off x="6099486" y="2988635"/>
              <a:ext cx="0" cy="2415458"/>
            </a:xfrm>
            <a:prstGeom prst="straightConnector1">
              <a:avLst/>
            </a:prstGeom>
            <a:noFill/>
            <a:ln w="9525" cap="flat" cmpd="sng">
              <a:solidFill>
                <a:srgbClr val="5C6573"/>
              </a:solidFill>
              <a:prstDash val="solid"/>
              <a:miter lim="800000"/>
              <a:headEnd type="none" w="sm" len="sm"/>
              <a:tailEnd type="none" w="sm" len="sm"/>
            </a:ln>
          </p:spPr>
        </p:cxnSp>
        <p:sp>
          <p:nvSpPr>
            <p:cNvPr id="33" name="Google Shape;245;p52">
              <a:extLst>
                <a:ext uri="{FF2B5EF4-FFF2-40B4-BE49-F238E27FC236}">
                  <a16:creationId xmlns:a16="http://schemas.microsoft.com/office/drawing/2014/main" id="{005C79EE-BFD9-4782-9B74-717F57B97281}"/>
                </a:ext>
              </a:extLst>
            </p:cNvPr>
            <p:cNvSpPr/>
            <p:nvPr/>
          </p:nvSpPr>
          <p:spPr>
            <a:xfrm>
              <a:off x="6065696" y="2957245"/>
              <a:ext cx="67582" cy="67582"/>
            </a:xfrm>
            <a:prstGeom prst="ellipse">
              <a:avLst/>
            </a:prstGeom>
            <a:solidFill>
              <a:srgbClr val="5C6573"/>
            </a:solidFill>
            <a:ln w="12700" cap="flat" cmpd="sng">
              <a:solidFill>
                <a:srgbClr val="5C657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grpSp>
      <p:grpSp>
        <p:nvGrpSpPr>
          <p:cNvPr id="34" name="Google Shape;246;p52">
            <a:extLst>
              <a:ext uri="{FF2B5EF4-FFF2-40B4-BE49-F238E27FC236}">
                <a16:creationId xmlns:a16="http://schemas.microsoft.com/office/drawing/2014/main" id="{59A4CF1F-AB76-4A4C-8F54-F5D16C878D7E}"/>
              </a:ext>
            </a:extLst>
          </p:cNvPr>
          <p:cNvGrpSpPr/>
          <p:nvPr/>
        </p:nvGrpSpPr>
        <p:grpSpPr>
          <a:xfrm>
            <a:off x="4424764" y="1854980"/>
            <a:ext cx="2000085" cy="2000085"/>
            <a:chOff x="3907923" y="2643906"/>
            <a:chExt cx="2666780" cy="2666780"/>
          </a:xfrm>
        </p:grpSpPr>
        <p:sp>
          <p:nvSpPr>
            <p:cNvPr id="35" name="Google Shape;247;p52">
              <a:extLst>
                <a:ext uri="{FF2B5EF4-FFF2-40B4-BE49-F238E27FC236}">
                  <a16:creationId xmlns:a16="http://schemas.microsoft.com/office/drawing/2014/main" id="{48FF984E-8C2C-4972-B1B4-69F7D20C2E05}"/>
                </a:ext>
              </a:extLst>
            </p:cNvPr>
            <p:cNvSpPr/>
            <p:nvPr/>
          </p:nvSpPr>
          <p:spPr>
            <a:xfrm rot="-2700000" flipH="1">
              <a:off x="4298464" y="3034447"/>
              <a:ext cx="1885698" cy="1885698"/>
            </a:xfrm>
            <a:prstGeom prst="teardrop">
              <a:avLst>
                <a:gd name="adj" fmla="val 100000"/>
              </a:avLst>
            </a:prstGeom>
            <a:solidFill>
              <a:srgbClr val="001F3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sp>
          <p:nvSpPr>
            <p:cNvPr id="36" name="Google Shape;248;p52">
              <a:extLst>
                <a:ext uri="{FF2B5EF4-FFF2-40B4-BE49-F238E27FC236}">
                  <a16:creationId xmlns:a16="http://schemas.microsoft.com/office/drawing/2014/main" id="{96BC8B91-FFCD-441A-B5EC-BE393F36702A}"/>
                </a:ext>
              </a:extLst>
            </p:cNvPr>
            <p:cNvSpPr/>
            <p:nvPr/>
          </p:nvSpPr>
          <p:spPr>
            <a:xfrm>
              <a:off x="4852119" y="3554619"/>
              <a:ext cx="899605" cy="1015663"/>
            </a:xfrm>
            <a:prstGeom prst="rect">
              <a:avLst/>
            </a:prstGeom>
            <a:solidFill>
              <a:srgbClr val="001F3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50">
                <a:solidFill>
                  <a:schemeClr val="dk1"/>
                </a:solidFill>
                <a:latin typeface="Cambria" panose="02040503050406030204" pitchFamily="18" charset="0"/>
                <a:ea typeface="Calibri"/>
                <a:cs typeface="Calibri"/>
                <a:sym typeface="Calibri"/>
              </a:endParaRPr>
            </a:p>
          </p:txBody>
        </p:sp>
      </p:grpSp>
      <p:grpSp>
        <p:nvGrpSpPr>
          <p:cNvPr id="37" name="Google Shape;249;p52">
            <a:extLst>
              <a:ext uri="{FF2B5EF4-FFF2-40B4-BE49-F238E27FC236}">
                <a16:creationId xmlns:a16="http://schemas.microsoft.com/office/drawing/2014/main" id="{6AB2F711-D191-420D-8EB4-058FF2E8233E}"/>
              </a:ext>
            </a:extLst>
          </p:cNvPr>
          <p:cNvGrpSpPr/>
          <p:nvPr/>
        </p:nvGrpSpPr>
        <p:grpSpPr>
          <a:xfrm rot="5400000">
            <a:off x="5759423" y="1439221"/>
            <a:ext cx="50687" cy="730081"/>
            <a:chOff x="6065694" y="3074932"/>
            <a:chExt cx="67582" cy="973442"/>
          </a:xfrm>
        </p:grpSpPr>
        <p:cxnSp>
          <p:nvCxnSpPr>
            <p:cNvPr id="38" name="Google Shape;250;p52">
              <a:extLst>
                <a:ext uri="{FF2B5EF4-FFF2-40B4-BE49-F238E27FC236}">
                  <a16:creationId xmlns:a16="http://schemas.microsoft.com/office/drawing/2014/main" id="{24C16F57-6923-467F-8344-D4567DBA32D0}"/>
                </a:ext>
              </a:extLst>
            </p:cNvPr>
            <p:cNvCxnSpPr/>
            <p:nvPr/>
          </p:nvCxnSpPr>
          <p:spPr>
            <a:xfrm>
              <a:off x="6099485" y="3117110"/>
              <a:ext cx="0" cy="931264"/>
            </a:xfrm>
            <a:prstGeom prst="straightConnector1">
              <a:avLst/>
            </a:prstGeom>
            <a:noFill/>
            <a:ln w="9525" cap="flat" cmpd="sng">
              <a:solidFill>
                <a:srgbClr val="ACB8CA"/>
              </a:solidFill>
              <a:prstDash val="solid"/>
              <a:miter lim="800000"/>
              <a:headEnd type="none" w="sm" len="sm"/>
              <a:tailEnd type="none" w="sm" len="sm"/>
            </a:ln>
          </p:spPr>
        </p:cxnSp>
        <p:sp>
          <p:nvSpPr>
            <p:cNvPr id="39" name="Google Shape;251;p52">
              <a:extLst>
                <a:ext uri="{FF2B5EF4-FFF2-40B4-BE49-F238E27FC236}">
                  <a16:creationId xmlns:a16="http://schemas.microsoft.com/office/drawing/2014/main" id="{1946DCF7-E6BA-43AC-B467-762B43D39F75}"/>
                </a:ext>
              </a:extLst>
            </p:cNvPr>
            <p:cNvSpPr/>
            <p:nvPr/>
          </p:nvSpPr>
          <p:spPr>
            <a:xfrm>
              <a:off x="6065694" y="3074932"/>
              <a:ext cx="67582" cy="67582"/>
            </a:xfrm>
            <a:prstGeom prst="ellipse">
              <a:avLst/>
            </a:prstGeom>
            <a:solidFill>
              <a:srgbClr val="ACB8CA"/>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grpSp>
      <p:grpSp>
        <p:nvGrpSpPr>
          <p:cNvPr id="40" name="Google Shape;252;p52">
            <a:extLst>
              <a:ext uri="{FF2B5EF4-FFF2-40B4-BE49-F238E27FC236}">
                <a16:creationId xmlns:a16="http://schemas.microsoft.com/office/drawing/2014/main" id="{B8386689-5233-43B6-8AA7-25B99AE3F08E}"/>
              </a:ext>
            </a:extLst>
          </p:cNvPr>
          <p:cNvGrpSpPr/>
          <p:nvPr/>
        </p:nvGrpSpPr>
        <p:grpSpPr>
          <a:xfrm>
            <a:off x="4597920" y="1365701"/>
            <a:ext cx="1300698" cy="1300698"/>
            <a:chOff x="4138799" y="1991534"/>
            <a:chExt cx="1734264" cy="1734264"/>
          </a:xfrm>
        </p:grpSpPr>
        <p:sp>
          <p:nvSpPr>
            <p:cNvPr id="41" name="Google Shape;253;p52">
              <a:extLst>
                <a:ext uri="{FF2B5EF4-FFF2-40B4-BE49-F238E27FC236}">
                  <a16:creationId xmlns:a16="http://schemas.microsoft.com/office/drawing/2014/main" id="{56E101D0-C4F1-4F9C-A61F-82EF946D9D1E}"/>
                </a:ext>
              </a:extLst>
            </p:cNvPr>
            <p:cNvSpPr/>
            <p:nvPr/>
          </p:nvSpPr>
          <p:spPr>
            <a:xfrm rot="-2700000" flipH="1">
              <a:off x="4392776" y="2245511"/>
              <a:ext cx="1226310" cy="1226310"/>
            </a:xfrm>
            <a:prstGeom prst="teardrop">
              <a:avLst>
                <a:gd name="adj" fmla="val 100000"/>
              </a:avLst>
            </a:prstGeom>
            <a:solidFill>
              <a:srgbClr val="ACB8CA"/>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sp>
          <p:nvSpPr>
            <p:cNvPr id="42" name="Google Shape;254;p52">
              <a:extLst>
                <a:ext uri="{FF2B5EF4-FFF2-40B4-BE49-F238E27FC236}">
                  <a16:creationId xmlns:a16="http://schemas.microsoft.com/office/drawing/2014/main" id="{FA5A0A53-E6D5-4BE3-AE8B-8CFA1DFE5D5C}"/>
                </a:ext>
              </a:extLst>
            </p:cNvPr>
            <p:cNvSpPr/>
            <p:nvPr/>
          </p:nvSpPr>
          <p:spPr>
            <a:xfrm>
              <a:off x="4691672" y="2443167"/>
              <a:ext cx="668773" cy="830997"/>
            </a:xfrm>
            <a:prstGeom prst="rect">
              <a:avLst/>
            </a:prstGeom>
            <a:solidFill>
              <a:srgbClr val="ACB8C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50">
                <a:solidFill>
                  <a:schemeClr val="dk1"/>
                </a:solidFill>
                <a:latin typeface="Cambria" panose="02040503050406030204" pitchFamily="18" charset="0"/>
                <a:ea typeface="Calibri"/>
                <a:cs typeface="Calibri"/>
                <a:sym typeface="Calibri"/>
              </a:endParaRPr>
            </a:p>
          </p:txBody>
        </p:sp>
      </p:grpSp>
      <p:grpSp>
        <p:nvGrpSpPr>
          <p:cNvPr id="43" name="Google Shape;255;p52">
            <a:extLst>
              <a:ext uri="{FF2B5EF4-FFF2-40B4-BE49-F238E27FC236}">
                <a16:creationId xmlns:a16="http://schemas.microsoft.com/office/drawing/2014/main" id="{B767D46A-ADEA-43FF-ADDF-028328CBB903}"/>
              </a:ext>
            </a:extLst>
          </p:cNvPr>
          <p:cNvGrpSpPr/>
          <p:nvPr/>
        </p:nvGrpSpPr>
        <p:grpSpPr>
          <a:xfrm>
            <a:off x="2634072" y="2194364"/>
            <a:ext cx="2276761" cy="2276761"/>
            <a:chOff x="1520334" y="3096419"/>
            <a:chExt cx="3035682" cy="3035682"/>
          </a:xfrm>
        </p:grpSpPr>
        <p:sp>
          <p:nvSpPr>
            <p:cNvPr id="44" name="Google Shape;256;p52">
              <a:extLst>
                <a:ext uri="{FF2B5EF4-FFF2-40B4-BE49-F238E27FC236}">
                  <a16:creationId xmlns:a16="http://schemas.microsoft.com/office/drawing/2014/main" id="{C2E24652-63D5-45E5-BCE2-06409CD94FDD}"/>
                </a:ext>
              </a:extLst>
            </p:cNvPr>
            <p:cNvSpPr/>
            <p:nvPr/>
          </p:nvSpPr>
          <p:spPr>
            <a:xfrm rot="2700000">
              <a:off x="1964899" y="3540984"/>
              <a:ext cx="2146551" cy="2146551"/>
            </a:xfrm>
            <a:prstGeom prst="teardrop">
              <a:avLst>
                <a:gd name="adj" fmla="val 100000"/>
              </a:avLst>
            </a:prstGeom>
            <a:solidFill>
              <a:srgbClr val="00152A"/>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sp>
          <p:nvSpPr>
            <p:cNvPr id="45" name="Google Shape;257;p52">
              <a:extLst>
                <a:ext uri="{FF2B5EF4-FFF2-40B4-BE49-F238E27FC236}">
                  <a16:creationId xmlns:a16="http://schemas.microsoft.com/office/drawing/2014/main" id="{7E5DAF76-22FB-4A5C-9AF1-EFCD411BED50}"/>
                </a:ext>
              </a:extLst>
            </p:cNvPr>
            <p:cNvSpPr/>
            <p:nvPr/>
          </p:nvSpPr>
          <p:spPr>
            <a:xfrm>
              <a:off x="2539664" y="4043953"/>
              <a:ext cx="771365" cy="1323439"/>
            </a:xfrm>
            <a:prstGeom prst="rect">
              <a:avLst/>
            </a:prstGeom>
            <a:solidFill>
              <a:srgbClr val="00152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50">
                <a:solidFill>
                  <a:schemeClr val="dk1"/>
                </a:solidFill>
                <a:latin typeface="Cambria" panose="02040503050406030204" pitchFamily="18" charset="0"/>
                <a:ea typeface="Calibri"/>
                <a:cs typeface="Calibri"/>
                <a:sym typeface="Calibri"/>
              </a:endParaRPr>
            </a:p>
          </p:txBody>
        </p:sp>
      </p:grpSp>
      <p:sp>
        <p:nvSpPr>
          <p:cNvPr id="46" name="Google Shape;258;p52">
            <a:extLst>
              <a:ext uri="{FF2B5EF4-FFF2-40B4-BE49-F238E27FC236}">
                <a16:creationId xmlns:a16="http://schemas.microsoft.com/office/drawing/2014/main" id="{F4291373-E6A9-43A0-AEC7-A2FD78D7E49B}"/>
              </a:ext>
            </a:extLst>
          </p:cNvPr>
          <p:cNvSpPr/>
          <p:nvPr/>
        </p:nvSpPr>
        <p:spPr>
          <a:xfrm rot="2700000">
            <a:off x="3570753" y="1791135"/>
            <a:ext cx="1143429" cy="1143429"/>
          </a:xfrm>
          <a:prstGeom prst="teardrop">
            <a:avLst>
              <a:gd name="adj" fmla="val 100000"/>
            </a:avLst>
          </a:prstGeom>
          <a:solidFill>
            <a:srgbClr val="5C657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grpSp>
        <p:nvGrpSpPr>
          <p:cNvPr id="47" name="Google Shape;259;p52">
            <a:extLst>
              <a:ext uri="{FF2B5EF4-FFF2-40B4-BE49-F238E27FC236}">
                <a16:creationId xmlns:a16="http://schemas.microsoft.com/office/drawing/2014/main" id="{3ED3A9A0-91B9-49F2-A269-C02D22F3A465}"/>
              </a:ext>
            </a:extLst>
          </p:cNvPr>
          <p:cNvGrpSpPr/>
          <p:nvPr/>
        </p:nvGrpSpPr>
        <p:grpSpPr>
          <a:xfrm>
            <a:off x="3957265" y="1141350"/>
            <a:ext cx="1158725" cy="1034046"/>
            <a:chOff x="3078378" y="1797107"/>
            <a:chExt cx="1413597" cy="1413597"/>
          </a:xfrm>
        </p:grpSpPr>
        <p:sp>
          <p:nvSpPr>
            <p:cNvPr id="48" name="Google Shape;260;p52">
              <a:extLst>
                <a:ext uri="{FF2B5EF4-FFF2-40B4-BE49-F238E27FC236}">
                  <a16:creationId xmlns:a16="http://schemas.microsoft.com/office/drawing/2014/main" id="{B3574E90-2B6D-4EFD-9E5D-87085C5E5341}"/>
                </a:ext>
              </a:extLst>
            </p:cNvPr>
            <p:cNvSpPr/>
            <p:nvPr/>
          </p:nvSpPr>
          <p:spPr>
            <a:xfrm rot="2700000">
              <a:off x="3285395" y="2004124"/>
              <a:ext cx="999564" cy="999564"/>
            </a:xfrm>
            <a:prstGeom prst="teardrop">
              <a:avLst>
                <a:gd name="adj" fmla="val 100000"/>
              </a:avLst>
            </a:prstGeom>
            <a:solidFill>
              <a:srgbClr val="FF9900"/>
            </a:solidFill>
            <a:ln w="9525" cap="flat" cmpd="sng">
              <a:solidFill>
                <a:srgbClr val="FF9900"/>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sp>
          <p:nvSpPr>
            <p:cNvPr id="49" name="Google Shape;261;p52">
              <a:extLst>
                <a:ext uri="{FF2B5EF4-FFF2-40B4-BE49-F238E27FC236}">
                  <a16:creationId xmlns:a16="http://schemas.microsoft.com/office/drawing/2014/main" id="{E97D8197-DF1F-4B7A-880C-12A9C2BA8E4A}"/>
                </a:ext>
              </a:extLst>
            </p:cNvPr>
            <p:cNvSpPr txBox="1"/>
            <p:nvPr/>
          </p:nvSpPr>
          <p:spPr>
            <a:xfrm>
              <a:off x="3494940" y="2180790"/>
              <a:ext cx="580500" cy="6462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050">
                <a:solidFill>
                  <a:schemeClr val="dk1"/>
                </a:solidFill>
                <a:latin typeface="Cambria" panose="02040503050406030204" pitchFamily="18" charset="0"/>
                <a:ea typeface="Calibri"/>
                <a:cs typeface="Calibri"/>
                <a:sym typeface="Calibri"/>
              </a:endParaRPr>
            </a:p>
          </p:txBody>
        </p:sp>
      </p:grpSp>
      <p:grpSp>
        <p:nvGrpSpPr>
          <p:cNvPr id="50" name="Google Shape;262;p52">
            <a:extLst>
              <a:ext uri="{FF2B5EF4-FFF2-40B4-BE49-F238E27FC236}">
                <a16:creationId xmlns:a16="http://schemas.microsoft.com/office/drawing/2014/main" id="{43477694-0639-4B09-A91E-A8EB9AC5E7F3}"/>
              </a:ext>
            </a:extLst>
          </p:cNvPr>
          <p:cNvGrpSpPr/>
          <p:nvPr/>
        </p:nvGrpSpPr>
        <p:grpSpPr>
          <a:xfrm>
            <a:off x="249623" y="1911740"/>
            <a:ext cx="3326864" cy="1421003"/>
            <a:chOff x="690956" y="4952317"/>
            <a:chExt cx="3104966" cy="2104877"/>
          </a:xfrm>
        </p:grpSpPr>
        <p:sp>
          <p:nvSpPr>
            <p:cNvPr id="51" name="Google Shape;263;p52">
              <a:extLst>
                <a:ext uri="{FF2B5EF4-FFF2-40B4-BE49-F238E27FC236}">
                  <a16:creationId xmlns:a16="http://schemas.microsoft.com/office/drawing/2014/main" id="{F32F39B3-D2D3-4A08-92FA-0A183F6BCFC3}"/>
                </a:ext>
              </a:extLst>
            </p:cNvPr>
            <p:cNvSpPr txBox="1"/>
            <p:nvPr/>
          </p:nvSpPr>
          <p:spPr>
            <a:xfrm>
              <a:off x="690956" y="4952317"/>
              <a:ext cx="760738" cy="341939"/>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fr" sz="1050" b="1" dirty="0">
                  <a:solidFill>
                    <a:srgbClr val="5C6573"/>
                  </a:solidFill>
                  <a:latin typeface="Cambria" panose="02040503050406030204" pitchFamily="18" charset="0"/>
                  <a:sym typeface="Arial"/>
                </a:rPr>
                <a:t>Sites </a:t>
              </a:r>
              <a:endParaRPr sz="1050" b="1" dirty="0">
                <a:solidFill>
                  <a:srgbClr val="5C6573"/>
                </a:solidFill>
                <a:latin typeface="Cambria" panose="02040503050406030204" pitchFamily="18" charset="0"/>
                <a:sym typeface="Arial"/>
              </a:endParaRPr>
            </a:p>
          </p:txBody>
        </p:sp>
        <p:sp>
          <p:nvSpPr>
            <p:cNvPr id="52" name="Google Shape;264;p52">
              <a:extLst>
                <a:ext uri="{FF2B5EF4-FFF2-40B4-BE49-F238E27FC236}">
                  <a16:creationId xmlns:a16="http://schemas.microsoft.com/office/drawing/2014/main" id="{B987E5AD-7ABE-4364-9BF1-1B2614748F43}"/>
                </a:ext>
              </a:extLst>
            </p:cNvPr>
            <p:cNvSpPr/>
            <p:nvPr/>
          </p:nvSpPr>
          <p:spPr>
            <a:xfrm>
              <a:off x="1125022" y="5325198"/>
              <a:ext cx="2670900" cy="1731996"/>
            </a:xfrm>
            <a:prstGeom prst="rect">
              <a:avLst/>
            </a:prstGeom>
            <a:noFill/>
            <a:ln>
              <a:noFill/>
            </a:ln>
          </p:spPr>
          <p:txBody>
            <a:bodyPr spcFirstLastPara="1" wrap="square" lIns="68575" tIns="34275" rIns="68575" bIns="34275" anchor="t" anchorCtr="0">
              <a:noAutofit/>
            </a:bodyPr>
            <a:lstStyle/>
            <a:p>
              <a:pPr marL="0" marR="0" lvl="0" indent="-50800" algn="l" rtl="0">
                <a:lnSpc>
                  <a:spcPct val="150000"/>
                </a:lnSpc>
                <a:spcBef>
                  <a:spcPts val="0"/>
                </a:spcBef>
                <a:spcAft>
                  <a:spcPts val="0"/>
                </a:spcAft>
                <a:buClr>
                  <a:schemeClr val="dk1"/>
                </a:buClr>
                <a:buSzPts val="800"/>
                <a:buFont typeface="Arial"/>
                <a:buChar char="•"/>
              </a:pPr>
              <a:r>
                <a:rPr lang="fr" sz="1050" b="1" dirty="0">
                  <a:solidFill>
                    <a:schemeClr val="dk1"/>
                  </a:solidFill>
                  <a:latin typeface="Cambria" panose="02040503050406030204" pitchFamily="18" charset="0"/>
                  <a:sym typeface="Arial"/>
                </a:rPr>
                <a:t> Bl</a:t>
              </a:r>
              <a:r>
                <a:rPr lang="fr" sz="1050" b="1" dirty="0">
                  <a:solidFill>
                    <a:schemeClr val="dk1"/>
                  </a:solidFill>
                  <a:latin typeface="Cambria" panose="02040503050406030204" pitchFamily="18" charset="0"/>
                </a:rPr>
                <a:t>e</a:t>
              </a:r>
              <a:r>
                <a:rPr lang="fr" sz="1050" b="1" dirty="0">
                  <a:solidFill>
                    <a:schemeClr val="dk1"/>
                  </a:solidFill>
                  <a:latin typeface="Cambria" panose="02040503050406030204" pitchFamily="18" charset="0"/>
                  <a:sym typeface="Arial"/>
                </a:rPr>
                <a:t>d Solb :  </a:t>
              </a:r>
              <a:r>
                <a:rPr lang="fr" sz="1050" dirty="0">
                  <a:latin typeface="Cambria" panose="02040503050406030204" pitchFamily="18" charset="0"/>
                  <a:sym typeface="Arial"/>
                </a:rPr>
                <a:t>Aciérie</a:t>
              </a:r>
              <a:endParaRPr sz="1050" dirty="0">
                <a:latin typeface="Cambria" panose="02040503050406030204" pitchFamily="18" charset="0"/>
                <a:sym typeface="Arial"/>
              </a:endParaRPr>
            </a:p>
            <a:p>
              <a:pPr marL="0" marR="0" lvl="0" indent="0" algn="l" rtl="0">
                <a:lnSpc>
                  <a:spcPct val="150000"/>
                </a:lnSpc>
                <a:spcBef>
                  <a:spcPts val="0"/>
                </a:spcBef>
                <a:spcAft>
                  <a:spcPts val="0"/>
                </a:spcAft>
                <a:buNone/>
              </a:pPr>
              <a:r>
                <a:rPr lang="fr" sz="1050" dirty="0">
                  <a:latin typeface="Cambria" panose="02040503050406030204" pitchFamily="18" charset="0"/>
                  <a:sym typeface="Arial"/>
                </a:rPr>
                <a:t>                     Usine laminage à chaud</a:t>
              </a:r>
              <a:endParaRPr sz="1050" dirty="0">
                <a:latin typeface="Cambria" panose="02040503050406030204" pitchFamily="18" charset="0"/>
                <a:sym typeface="Arial"/>
              </a:endParaRPr>
            </a:p>
            <a:p>
              <a:pPr marL="0" marR="0" lvl="0" indent="-50800" algn="l" rtl="0">
                <a:lnSpc>
                  <a:spcPct val="150000"/>
                </a:lnSpc>
                <a:spcBef>
                  <a:spcPts val="0"/>
                </a:spcBef>
                <a:spcAft>
                  <a:spcPts val="0"/>
                </a:spcAft>
                <a:buClr>
                  <a:srgbClr val="000000"/>
                </a:buClr>
                <a:buSzPts val="800"/>
                <a:buFont typeface="Arial"/>
                <a:buChar char="•"/>
              </a:pPr>
              <a:r>
                <a:rPr lang="fr" sz="1050" b="1" dirty="0">
                  <a:latin typeface="Cambria" panose="02040503050406030204" pitchFamily="18" charset="0"/>
                  <a:sym typeface="Arial"/>
                </a:rPr>
                <a:t> Tit Mellil :    </a:t>
              </a:r>
              <a:r>
                <a:rPr lang="fr" sz="1050" dirty="0">
                  <a:latin typeface="Cambria" panose="02040503050406030204" pitchFamily="18" charset="0"/>
                  <a:sym typeface="Arial"/>
                </a:rPr>
                <a:t>Siège Social </a:t>
              </a:r>
              <a:endParaRPr sz="1050" dirty="0">
                <a:latin typeface="Cambria" panose="02040503050406030204" pitchFamily="18" charset="0"/>
              </a:endParaRPr>
            </a:p>
            <a:p>
              <a:pPr marL="0" marR="0" lvl="0" indent="0" algn="l" rtl="0">
                <a:lnSpc>
                  <a:spcPct val="150000"/>
                </a:lnSpc>
                <a:spcBef>
                  <a:spcPts val="0"/>
                </a:spcBef>
                <a:spcAft>
                  <a:spcPts val="0"/>
                </a:spcAft>
                <a:buNone/>
              </a:pPr>
              <a:r>
                <a:rPr lang="fr" sz="1050" dirty="0">
                  <a:latin typeface="Cambria" panose="02040503050406030204" pitchFamily="18" charset="0"/>
                  <a:sym typeface="Arial"/>
                </a:rPr>
                <a:t>                     Usine laminage à froid </a:t>
              </a:r>
              <a:endParaRPr sz="1050" dirty="0">
                <a:latin typeface="Cambria" panose="02040503050406030204" pitchFamily="18" charset="0"/>
              </a:endParaRPr>
            </a:p>
            <a:p>
              <a:pPr marL="0" marR="0" lvl="0" indent="0" algn="l" rtl="0">
                <a:lnSpc>
                  <a:spcPct val="150000"/>
                </a:lnSpc>
                <a:spcBef>
                  <a:spcPts val="0"/>
                </a:spcBef>
                <a:spcAft>
                  <a:spcPts val="0"/>
                </a:spcAft>
                <a:buNone/>
              </a:pPr>
              <a:endParaRPr sz="1050" dirty="0">
                <a:solidFill>
                  <a:srgbClr val="595959"/>
                </a:solidFill>
                <a:latin typeface="Cambria" panose="02040503050406030204" pitchFamily="18" charset="0"/>
                <a:sym typeface="Arial"/>
              </a:endParaRPr>
            </a:p>
          </p:txBody>
        </p:sp>
      </p:grpSp>
      <p:grpSp>
        <p:nvGrpSpPr>
          <p:cNvPr id="53" name="Google Shape;265;p52">
            <a:extLst>
              <a:ext uri="{FF2B5EF4-FFF2-40B4-BE49-F238E27FC236}">
                <a16:creationId xmlns:a16="http://schemas.microsoft.com/office/drawing/2014/main" id="{5FCF22F1-AC07-482A-9185-B80D200D9ADA}"/>
              </a:ext>
            </a:extLst>
          </p:cNvPr>
          <p:cNvGrpSpPr/>
          <p:nvPr/>
        </p:nvGrpSpPr>
        <p:grpSpPr>
          <a:xfrm>
            <a:off x="808037" y="3495749"/>
            <a:ext cx="3211328" cy="1439299"/>
            <a:chOff x="1152870" y="4903906"/>
            <a:chExt cx="1699204" cy="2008231"/>
          </a:xfrm>
        </p:grpSpPr>
        <p:sp>
          <p:nvSpPr>
            <p:cNvPr id="54" name="Google Shape;266;p52">
              <a:extLst>
                <a:ext uri="{FF2B5EF4-FFF2-40B4-BE49-F238E27FC236}">
                  <a16:creationId xmlns:a16="http://schemas.microsoft.com/office/drawing/2014/main" id="{FE824B41-9AB2-4F45-8632-E81D02A03F3F}"/>
                </a:ext>
              </a:extLst>
            </p:cNvPr>
            <p:cNvSpPr txBox="1"/>
            <p:nvPr/>
          </p:nvSpPr>
          <p:spPr>
            <a:xfrm>
              <a:off x="1152870" y="4903906"/>
              <a:ext cx="1022722" cy="307777"/>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fr" sz="1050" b="1">
                  <a:solidFill>
                    <a:srgbClr val="00152A"/>
                  </a:solidFill>
                  <a:latin typeface="Cambria" panose="02040503050406030204" pitchFamily="18" charset="0"/>
                  <a:sym typeface="Arial"/>
                </a:rPr>
                <a:t>Fournisseurs</a:t>
              </a:r>
              <a:endParaRPr sz="1050" b="1">
                <a:solidFill>
                  <a:srgbClr val="00152A"/>
                </a:solidFill>
                <a:latin typeface="Cambria" panose="02040503050406030204" pitchFamily="18" charset="0"/>
                <a:sym typeface="Arial"/>
              </a:endParaRPr>
            </a:p>
          </p:txBody>
        </p:sp>
        <p:sp>
          <p:nvSpPr>
            <p:cNvPr id="55" name="Google Shape;267;p52">
              <a:extLst>
                <a:ext uri="{FF2B5EF4-FFF2-40B4-BE49-F238E27FC236}">
                  <a16:creationId xmlns:a16="http://schemas.microsoft.com/office/drawing/2014/main" id="{CEC39CEC-BFEF-456E-A1D2-E61C4A925457}"/>
                </a:ext>
              </a:extLst>
            </p:cNvPr>
            <p:cNvSpPr/>
            <p:nvPr/>
          </p:nvSpPr>
          <p:spPr>
            <a:xfrm>
              <a:off x="1224274" y="5273836"/>
              <a:ext cx="1627800" cy="1638301"/>
            </a:xfrm>
            <a:prstGeom prst="rect">
              <a:avLst/>
            </a:prstGeom>
            <a:noFill/>
            <a:ln>
              <a:noFill/>
            </a:ln>
          </p:spPr>
          <p:txBody>
            <a:bodyPr spcFirstLastPara="1" wrap="square" lIns="68575" tIns="34275" rIns="68575" bIns="34275" anchor="t" anchorCtr="0">
              <a:noAutofit/>
            </a:bodyPr>
            <a:lstStyle/>
            <a:p>
              <a:pPr marL="0" marR="0" lvl="0" indent="-50800" algn="l" rtl="0">
                <a:lnSpc>
                  <a:spcPct val="150000"/>
                </a:lnSpc>
                <a:spcBef>
                  <a:spcPts val="0"/>
                </a:spcBef>
                <a:spcAft>
                  <a:spcPts val="0"/>
                </a:spcAft>
                <a:buClr>
                  <a:srgbClr val="595959"/>
                </a:buClr>
                <a:buSzPts val="800"/>
                <a:buFont typeface="Arial"/>
                <a:buChar char="•"/>
              </a:pPr>
              <a:r>
                <a:rPr lang="fr" sz="1050" dirty="0">
                  <a:solidFill>
                    <a:srgbClr val="595959"/>
                  </a:solidFill>
                  <a:latin typeface="Cambria" panose="02040503050406030204" pitchFamily="18" charset="0"/>
                  <a:sym typeface="Arial"/>
                </a:rPr>
                <a:t> </a:t>
              </a:r>
              <a:r>
                <a:rPr lang="fr-FR" sz="1050" dirty="0">
                  <a:latin typeface="Cambria" panose="02040503050406030204" pitchFamily="18" charset="0"/>
                  <a:sym typeface="Arial"/>
                </a:rPr>
                <a:t>Ferrailles locales</a:t>
              </a:r>
            </a:p>
            <a:p>
              <a:pPr marL="0" marR="0" lvl="0" indent="-50800" algn="l" rtl="0">
                <a:lnSpc>
                  <a:spcPct val="150000"/>
                </a:lnSpc>
                <a:spcBef>
                  <a:spcPts val="0"/>
                </a:spcBef>
                <a:spcAft>
                  <a:spcPts val="0"/>
                </a:spcAft>
                <a:buClr>
                  <a:srgbClr val="595959"/>
                </a:buClr>
                <a:buSzPts val="800"/>
                <a:buFont typeface="Arial"/>
                <a:buChar char="•"/>
              </a:pPr>
              <a:r>
                <a:rPr lang="fr-FR" sz="1050" dirty="0">
                  <a:latin typeface="Cambria" panose="02040503050406030204" pitchFamily="18" charset="0"/>
                </a:rPr>
                <a:t> Ferrailles </a:t>
              </a:r>
              <a:r>
                <a:rPr lang="fr-FR" sz="1050" dirty="0">
                  <a:latin typeface="Cambria" panose="02040503050406030204" pitchFamily="18" charset="0"/>
                  <a:sym typeface="Arial"/>
                </a:rPr>
                <a:t>importées, HBI, DRI</a:t>
              </a:r>
            </a:p>
            <a:p>
              <a:pPr marL="0" marR="0" lvl="0" indent="-50800" algn="l" rtl="0">
                <a:lnSpc>
                  <a:spcPct val="150000"/>
                </a:lnSpc>
                <a:spcBef>
                  <a:spcPts val="0"/>
                </a:spcBef>
                <a:spcAft>
                  <a:spcPts val="0"/>
                </a:spcAft>
                <a:buClr>
                  <a:srgbClr val="595959"/>
                </a:buClr>
                <a:buSzPts val="800"/>
                <a:buFont typeface="Arial"/>
                <a:buChar char="•"/>
              </a:pPr>
              <a:r>
                <a:rPr lang="fr-FR" sz="1050" dirty="0">
                  <a:latin typeface="Cambria" panose="02040503050406030204" pitchFamily="18" charset="0"/>
                </a:rPr>
                <a:t> Brames importées</a:t>
              </a:r>
            </a:p>
            <a:p>
              <a:pPr marL="0" marR="0" lvl="0" indent="-50800" algn="l" rtl="0">
                <a:lnSpc>
                  <a:spcPct val="150000"/>
                </a:lnSpc>
                <a:spcBef>
                  <a:spcPts val="0"/>
                </a:spcBef>
                <a:spcAft>
                  <a:spcPts val="0"/>
                </a:spcAft>
                <a:buClr>
                  <a:srgbClr val="595959"/>
                </a:buClr>
                <a:buSzPts val="800"/>
                <a:buFont typeface="Arial"/>
                <a:buChar char="•"/>
              </a:pPr>
              <a:r>
                <a:rPr lang="fr-FR" sz="1050" dirty="0">
                  <a:latin typeface="Cambria" panose="02040503050406030204" pitchFamily="18" charset="0"/>
                </a:rPr>
                <a:t> Zinc</a:t>
              </a:r>
              <a:endParaRPr sz="1050" dirty="0">
                <a:latin typeface="Cambria" panose="02040503050406030204" pitchFamily="18" charset="0"/>
              </a:endParaRPr>
            </a:p>
          </p:txBody>
        </p:sp>
      </p:grpSp>
      <p:grpSp>
        <p:nvGrpSpPr>
          <p:cNvPr id="56" name="Google Shape;268;p52">
            <a:extLst>
              <a:ext uri="{FF2B5EF4-FFF2-40B4-BE49-F238E27FC236}">
                <a16:creationId xmlns:a16="http://schemas.microsoft.com/office/drawing/2014/main" id="{92FDEC09-3EAA-4601-9B0E-429CB34F2433}"/>
              </a:ext>
            </a:extLst>
          </p:cNvPr>
          <p:cNvGrpSpPr/>
          <p:nvPr/>
        </p:nvGrpSpPr>
        <p:grpSpPr>
          <a:xfrm>
            <a:off x="6644201" y="2427810"/>
            <a:ext cx="2336712" cy="1961554"/>
            <a:chOff x="831859" y="4933086"/>
            <a:chExt cx="2043420" cy="2615405"/>
          </a:xfrm>
        </p:grpSpPr>
        <p:sp>
          <p:nvSpPr>
            <p:cNvPr id="57" name="Google Shape;269;p52">
              <a:extLst>
                <a:ext uri="{FF2B5EF4-FFF2-40B4-BE49-F238E27FC236}">
                  <a16:creationId xmlns:a16="http://schemas.microsoft.com/office/drawing/2014/main" id="{0C8DE1C2-D75F-4952-8D0E-FAB5B2D108CC}"/>
                </a:ext>
              </a:extLst>
            </p:cNvPr>
            <p:cNvSpPr txBox="1"/>
            <p:nvPr/>
          </p:nvSpPr>
          <p:spPr>
            <a:xfrm>
              <a:off x="831859" y="4933086"/>
              <a:ext cx="1851600" cy="3078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fr" sz="1050" b="1">
                  <a:solidFill>
                    <a:srgbClr val="001F3E"/>
                  </a:solidFill>
                  <a:latin typeface="Cambria" panose="02040503050406030204" pitchFamily="18" charset="0"/>
                </a:rPr>
                <a:t> </a:t>
              </a:r>
              <a:r>
                <a:rPr lang="fr" sz="1050" b="1">
                  <a:solidFill>
                    <a:srgbClr val="001F3E"/>
                  </a:solidFill>
                  <a:latin typeface="Cambria" panose="02040503050406030204" pitchFamily="18" charset="0"/>
                  <a:sym typeface="Arial"/>
                </a:rPr>
                <a:t>Produits Finis </a:t>
              </a:r>
              <a:endParaRPr sz="1050" b="1">
                <a:solidFill>
                  <a:srgbClr val="001F3E"/>
                </a:solidFill>
                <a:latin typeface="Cambria" panose="02040503050406030204" pitchFamily="18" charset="0"/>
                <a:sym typeface="Arial"/>
              </a:endParaRPr>
            </a:p>
          </p:txBody>
        </p:sp>
        <p:sp>
          <p:nvSpPr>
            <p:cNvPr id="58" name="Google Shape;270;p52">
              <a:extLst>
                <a:ext uri="{FF2B5EF4-FFF2-40B4-BE49-F238E27FC236}">
                  <a16:creationId xmlns:a16="http://schemas.microsoft.com/office/drawing/2014/main" id="{EADF665F-5F2D-4EBC-9213-F0B508F96C12}"/>
                </a:ext>
              </a:extLst>
            </p:cNvPr>
            <p:cNvSpPr/>
            <p:nvPr/>
          </p:nvSpPr>
          <p:spPr>
            <a:xfrm>
              <a:off x="969003" y="5240886"/>
              <a:ext cx="1906276" cy="2307605"/>
            </a:xfrm>
            <a:prstGeom prst="rect">
              <a:avLst/>
            </a:prstGeom>
            <a:noFill/>
            <a:ln>
              <a:noFill/>
            </a:ln>
          </p:spPr>
          <p:txBody>
            <a:bodyPr spcFirstLastPara="1" wrap="square" lIns="68575" tIns="34275" rIns="68575" bIns="34275" anchor="t" anchorCtr="0">
              <a:noAutofit/>
            </a:bodyPr>
            <a:lstStyle/>
            <a:p>
              <a:pPr marL="0" marR="0" lvl="0" indent="-50800" algn="l" rtl="0">
                <a:lnSpc>
                  <a:spcPct val="150000"/>
                </a:lnSpc>
                <a:spcBef>
                  <a:spcPts val="0"/>
                </a:spcBef>
                <a:spcAft>
                  <a:spcPts val="0"/>
                </a:spcAft>
                <a:buClr>
                  <a:srgbClr val="000000"/>
                </a:buClr>
                <a:buSzPts val="800"/>
                <a:buFont typeface="Arial"/>
                <a:buChar char="•"/>
              </a:pPr>
              <a:r>
                <a:rPr lang="fr" sz="1050" dirty="0">
                  <a:latin typeface="Cambria" panose="02040503050406030204" pitchFamily="18" charset="0"/>
                  <a:sym typeface="Arial"/>
                </a:rPr>
                <a:t> Bobi</a:t>
              </a:r>
              <a:r>
                <a:rPr lang="fr" sz="1050" dirty="0">
                  <a:latin typeface="Cambria" panose="02040503050406030204" pitchFamily="18" charset="0"/>
                </a:rPr>
                <a:t>nes laminées à  chaud</a:t>
              </a:r>
            </a:p>
            <a:p>
              <a:pPr marL="0" marR="0" lvl="0" indent="-50800" algn="l" rtl="0">
                <a:lnSpc>
                  <a:spcPct val="150000"/>
                </a:lnSpc>
                <a:spcBef>
                  <a:spcPts val="0"/>
                </a:spcBef>
                <a:spcAft>
                  <a:spcPts val="0"/>
                </a:spcAft>
                <a:buClr>
                  <a:srgbClr val="000000"/>
                </a:buClr>
                <a:buSzPts val="800"/>
                <a:buFont typeface="Arial"/>
                <a:buChar char="•"/>
              </a:pPr>
              <a:r>
                <a:rPr lang="fr" sz="1050" dirty="0">
                  <a:latin typeface="Cambria" panose="02040503050406030204" pitchFamily="18" charset="0"/>
                </a:rPr>
                <a:t> Bobines laminées à froid</a:t>
              </a:r>
              <a:endParaRPr sz="1050" dirty="0">
                <a:latin typeface="Cambria" panose="02040503050406030204" pitchFamily="18" charset="0"/>
              </a:endParaRPr>
            </a:p>
            <a:p>
              <a:pPr marL="0" marR="0" lvl="0" indent="-50800" algn="l" rtl="0">
                <a:lnSpc>
                  <a:spcPct val="150000"/>
                </a:lnSpc>
                <a:spcBef>
                  <a:spcPts val="0"/>
                </a:spcBef>
                <a:spcAft>
                  <a:spcPts val="0"/>
                </a:spcAft>
                <a:buClr>
                  <a:srgbClr val="000000"/>
                </a:buClr>
                <a:buSzPts val="800"/>
                <a:buFont typeface="Arial"/>
                <a:buChar char="•"/>
              </a:pPr>
              <a:r>
                <a:rPr lang="fr" sz="1050" dirty="0">
                  <a:latin typeface="Cambria" panose="02040503050406030204" pitchFamily="18" charset="0"/>
                </a:rPr>
                <a:t> Bobines  galvanisées</a:t>
              </a:r>
              <a:endParaRPr sz="1050" dirty="0">
                <a:latin typeface="Cambria" panose="02040503050406030204" pitchFamily="18" charset="0"/>
              </a:endParaRPr>
            </a:p>
            <a:p>
              <a:pPr marL="0" marR="0" lvl="0" indent="-50800" algn="l" rtl="0">
                <a:lnSpc>
                  <a:spcPct val="150000"/>
                </a:lnSpc>
                <a:spcBef>
                  <a:spcPts val="0"/>
                </a:spcBef>
                <a:spcAft>
                  <a:spcPts val="0"/>
                </a:spcAft>
                <a:buClr>
                  <a:srgbClr val="000000"/>
                </a:buClr>
                <a:buSzPts val="800"/>
                <a:buFont typeface="Arial"/>
                <a:buChar char="•"/>
              </a:pPr>
              <a:r>
                <a:rPr lang="fr" sz="1050" dirty="0">
                  <a:latin typeface="Cambria" panose="02040503050406030204" pitchFamily="18" charset="0"/>
                </a:rPr>
                <a:t> Bobines prélaquées</a:t>
              </a:r>
              <a:endParaRPr sz="1050" dirty="0">
                <a:latin typeface="Cambria" panose="02040503050406030204" pitchFamily="18" charset="0"/>
              </a:endParaRPr>
            </a:p>
            <a:p>
              <a:pPr marL="0" marR="0" lvl="0" indent="-50800" algn="l" rtl="0">
                <a:lnSpc>
                  <a:spcPct val="150000"/>
                </a:lnSpc>
                <a:spcBef>
                  <a:spcPts val="0"/>
                </a:spcBef>
                <a:spcAft>
                  <a:spcPts val="0"/>
                </a:spcAft>
                <a:buClr>
                  <a:srgbClr val="000000"/>
                </a:buClr>
                <a:buSzPts val="800"/>
                <a:buFont typeface="Arial"/>
                <a:buChar char="•"/>
              </a:pPr>
              <a:r>
                <a:rPr lang="fr" sz="1050" dirty="0">
                  <a:latin typeface="Cambria" panose="02040503050406030204" pitchFamily="18" charset="0"/>
                </a:rPr>
                <a:t> Tôles Q</a:t>
              </a:r>
              <a:r>
                <a:rPr lang="fr-FR" sz="1050" dirty="0" err="1">
                  <a:latin typeface="Cambria" panose="02040503050406030204" pitchFamily="18" charset="0"/>
                </a:rPr>
                <a:t>uarto</a:t>
              </a:r>
              <a:endParaRPr sz="1050" dirty="0">
                <a:latin typeface="Cambria" panose="02040503050406030204" pitchFamily="18" charset="0"/>
              </a:endParaRPr>
            </a:p>
            <a:p>
              <a:pPr marL="0" marR="0" lvl="0" indent="-50800" algn="l" rtl="0">
                <a:lnSpc>
                  <a:spcPct val="150000"/>
                </a:lnSpc>
                <a:spcBef>
                  <a:spcPts val="0"/>
                </a:spcBef>
                <a:spcAft>
                  <a:spcPts val="0"/>
                </a:spcAft>
                <a:buClr>
                  <a:srgbClr val="000000"/>
                </a:buClr>
                <a:buSzPts val="800"/>
                <a:buFont typeface="Arial"/>
                <a:buChar char="•"/>
              </a:pPr>
              <a:r>
                <a:rPr lang="fr" sz="1050" dirty="0">
                  <a:latin typeface="Cambria" panose="02040503050406030204" pitchFamily="18" charset="0"/>
                </a:rPr>
                <a:t> Panneaux Sandwich</a:t>
              </a:r>
              <a:endParaRPr sz="1050" dirty="0">
                <a:latin typeface="Cambria" panose="02040503050406030204" pitchFamily="18" charset="0"/>
              </a:endParaRPr>
            </a:p>
          </p:txBody>
        </p:sp>
      </p:grpSp>
      <p:grpSp>
        <p:nvGrpSpPr>
          <p:cNvPr id="59" name="Google Shape;271;p52">
            <a:extLst>
              <a:ext uri="{FF2B5EF4-FFF2-40B4-BE49-F238E27FC236}">
                <a16:creationId xmlns:a16="http://schemas.microsoft.com/office/drawing/2014/main" id="{303BD7B4-2B96-456B-A38B-C26FF9E2DDFA}"/>
              </a:ext>
            </a:extLst>
          </p:cNvPr>
          <p:cNvGrpSpPr/>
          <p:nvPr/>
        </p:nvGrpSpPr>
        <p:grpSpPr>
          <a:xfrm>
            <a:off x="6116480" y="1158518"/>
            <a:ext cx="2622824" cy="1194015"/>
            <a:chOff x="466524" y="4858660"/>
            <a:chExt cx="2285731" cy="1592020"/>
          </a:xfrm>
        </p:grpSpPr>
        <p:sp>
          <p:nvSpPr>
            <p:cNvPr id="60" name="Google Shape;272;p52">
              <a:extLst>
                <a:ext uri="{FF2B5EF4-FFF2-40B4-BE49-F238E27FC236}">
                  <a16:creationId xmlns:a16="http://schemas.microsoft.com/office/drawing/2014/main" id="{B722E1DB-7075-4C1B-B6AC-D14150EC7FDF}"/>
                </a:ext>
              </a:extLst>
            </p:cNvPr>
            <p:cNvSpPr txBox="1"/>
            <p:nvPr/>
          </p:nvSpPr>
          <p:spPr>
            <a:xfrm>
              <a:off x="466524" y="4858660"/>
              <a:ext cx="979800" cy="3756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fr" sz="1050" b="1" dirty="0">
                  <a:solidFill>
                    <a:srgbClr val="8296B0"/>
                  </a:solidFill>
                  <a:latin typeface="Cambria" panose="02040503050406030204" pitchFamily="18" charset="0"/>
                  <a:sym typeface="Arial"/>
                </a:rPr>
                <a:t>Clientèle </a:t>
              </a:r>
              <a:endParaRPr sz="1050" dirty="0">
                <a:latin typeface="Cambria" panose="02040503050406030204" pitchFamily="18" charset="0"/>
              </a:endParaRPr>
            </a:p>
          </p:txBody>
        </p:sp>
        <p:sp>
          <p:nvSpPr>
            <p:cNvPr id="61" name="Google Shape;273;p52">
              <a:extLst>
                <a:ext uri="{FF2B5EF4-FFF2-40B4-BE49-F238E27FC236}">
                  <a16:creationId xmlns:a16="http://schemas.microsoft.com/office/drawing/2014/main" id="{71D56F62-A122-4DB0-A654-22EF8D0E67B4}"/>
                </a:ext>
              </a:extLst>
            </p:cNvPr>
            <p:cNvSpPr/>
            <p:nvPr/>
          </p:nvSpPr>
          <p:spPr>
            <a:xfrm>
              <a:off x="594055" y="5200360"/>
              <a:ext cx="2158200" cy="1250320"/>
            </a:xfrm>
            <a:prstGeom prst="rect">
              <a:avLst/>
            </a:prstGeom>
            <a:noFill/>
            <a:ln>
              <a:noFill/>
            </a:ln>
          </p:spPr>
          <p:txBody>
            <a:bodyPr spcFirstLastPara="1" wrap="square" lIns="68575" tIns="34275" rIns="68575" bIns="34275" anchor="t" anchorCtr="0">
              <a:noAutofit/>
            </a:bodyPr>
            <a:lstStyle/>
            <a:p>
              <a:pPr marL="0" marR="0" lvl="0" indent="-50800" algn="l" rtl="0">
                <a:lnSpc>
                  <a:spcPct val="150000"/>
                </a:lnSpc>
                <a:spcBef>
                  <a:spcPts val="0"/>
                </a:spcBef>
                <a:spcAft>
                  <a:spcPts val="0"/>
                </a:spcAft>
                <a:buClr>
                  <a:schemeClr val="dk1"/>
                </a:buClr>
                <a:buSzPts val="800"/>
                <a:buFont typeface="Arial"/>
                <a:buChar char="•"/>
              </a:pPr>
              <a:r>
                <a:rPr lang="fr" sz="1050" dirty="0">
                  <a:solidFill>
                    <a:schemeClr val="dk1"/>
                  </a:solidFill>
                  <a:latin typeface="Cambria" panose="02040503050406030204" pitchFamily="18" charset="0"/>
                  <a:sym typeface="Arial"/>
                </a:rPr>
                <a:t> I</a:t>
              </a:r>
              <a:r>
                <a:rPr lang="fr" sz="1050" dirty="0">
                  <a:latin typeface="Cambria" panose="02040503050406030204" pitchFamily="18" charset="0"/>
                  <a:sym typeface="Arial"/>
                </a:rPr>
                <a:t>n</a:t>
              </a:r>
              <a:r>
                <a:rPr lang="fr" sz="1050" dirty="0">
                  <a:latin typeface="Cambria" panose="02040503050406030204" pitchFamily="18" charset="0"/>
                </a:rPr>
                <a:t>dustrie des  Bouteilles à Gaz</a:t>
              </a:r>
              <a:endParaRPr sz="1050" dirty="0">
                <a:latin typeface="Cambria" panose="02040503050406030204" pitchFamily="18" charset="0"/>
              </a:endParaRPr>
            </a:p>
            <a:p>
              <a:pPr marL="0" marR="0" lvl="0" indent="-50800" algn="l" rtl="0">
                <a:lnSpc>
                  <a:spcPct val="150000"/>
                </a:lnSpc>
                <a:spcBef>
                  <a:spcPts val="0"/>
                </a:spcBef>
                <a:spcAft>
                  <a:spcPts val="0"/>
                </a:spcAft>
                <a:buClr>
                  <a:srgbClr val="000000"/>
                </a:buClr>
                <a:buSzPts val="800"/>
                <a:buFont typeface="Arial"/>
                <a:buChar char="•"/>
              </a:pPr>
              <a:r>
                <a:rPr lang="fr" sz="1050" dirty="0">
                  <a:latin typeface="Cambria" panose="02040503050406030204" pitchFamily="18" charset="0"/>
                </a:rPr>
                <a:t> Industriels &amp; Construction</a:t>
              </a:r>
            </a:p>
            <a:p>
              <a:pPr marL="0" marR="0" lvl="0" indent="-50800" algn="l" rtl="0">
                <a:lnSpc>
                  <a:spcPct val="150000"/>
                </a:lnSpc>
                <a:spcBef>
                  <a:spcPts val="0"/>
                </a:spcBef>
                <a:spcAft>
                  <a:spcPts val="0"/>
                </a:spcAft>
                <a:buClr>
                  <a:srgbClr val="000000"/>
                </a:buClr>
                <a:buSzPts val="800"/>
                <a:buFont typeface="Arial"/>
                <a:buChar char="•"/>
              </a:pPr>
              <a:r>
                <a:rPr lang="fr-FR" sz="1050" dirty="0">
                  <a:latin typeface="Cambria" panose="02040503050406030204" pitchFamily="18" charset="0"/>
                </a:rPr>
                <a:t> Industrie automobile</a:t>
              </a:r>
            </a:p>
          </p:txBody>
        </p:sp>
      </p:grpSp>
      <p:grpSp>
        <p:nvGrpSpPr>
          <p:cNvPr id="62" name="Google Shape;274;p52">
            <a:extLst>
              <a:ext uri="{FF2B5EF4-FFF2-40B4-BE49-F238E27FC236}">
                <a16:creationId xmlns:a16="http://schemas.microsoft.com/office/drawing/2014/main" id="{23C55708-5695-4915-92F0-32ABD8B09197}"/>
              </a:ext>
            </a:extLst>
          </p:cNvPr>
          <p:cNvGrpSpPr/>
          <p:nvPr/>
        </p:nvGrpSpPr>
        <p:grpSpPr>
          <a:xfrm rot="-5400000">
            <a:off x="3937030" y="1366588"/>
            <a:ext cx="50687" cy="468602"/>
            <a:chOff x="9338695" y="2216156"/>
            <a:chExt cx="67582" cy="624803"/>
          </a:xfrm>
        </p:grpSpPr>
        <p:cxnSp>
          <p:nvCxnSpPr>
            <p:cNvPr id="63" name="Google Shape;275;p52">
              <a:extLst>
                <a:ext uri="{FF2B5EF4-FFF2-40B4-BE49-F238E27FC236}">
                  <a16:creationId xmlns:a16="http://schemas.microsoft.com/office/drawing/2014/main" id="{8FF85EB0-7979-40BD-A15E-B003B1F7CBA5}"/>
                </a:ext>
              </a:extLst>
            </p:cNvPr>
            <p:cNvCxnSpPr/>
            <p:nvPr/>
          </p:nvCxnSpPr>
          <p:spPr>
            <a:xfrm>
              <a:off x="9372487" y="2262717"/>
              <a:ext cx="0" cy="578242"/>
            </a:xfrm>
            <a:prstGeom prst="straightConnector1">
              <a:avLst/>
            </a:prstGeom>
            <a:noFill/>
            <a:ln w="9525" cap="flat" cmpd="sng">
              <a:solidFill>
                <a:srgbClr val="FF9900"/>
              </a:solidFill>
              <a:prstDash val="solid"/>
              <a:miter lim="800000"/>
              <a:headEnd type="none" w="sm" len="sm"/>
              <a:tailEnd type="none" w="sm" len="sm"/>
            </a:ln>
          </p:spPr>
        </p:cxnSp>
        <p:sp>
          <p:nvSpPr>
            <p:cNvPr id="64" name="Google Shape;276;p52">
              <a:extLst>
                <a:ext uri="{FF2B5EF4-FFF2-40B4-BE49-F238E27FC236}">
                  <a16:creationId xmlns:a16="http://schemas.microsoft.com/office/drawing/2014/main" id="{89B862F5-3043-4D02-9001-A0A5D326F95A}"/>
                </a:ext>
              </a:extLst>
            </p:cNvPr>
            <p:cNvSpPr/>
            <p:nvPr/>
          </p:nvSpPr>
          <p:spPr>
            <a:xfrm>
              <a:off x="9338695" y="2216156"/>
              <a:ext cx="67582" cy="67582"/>
            </a:xfrm>
            <a:prstGeom prst="ellipse">
              <a:avLst/>
            </a:prstGeom>
            <a:solidFill>
              <a:srgbClr val="FFC40A"/>
            </a:solidFill>
            <a:ln w="9525" cap="flat" cmpd="sng">
              <a:solidFill>
                <a:srgbClr val="FF9900"/>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grpSp>
      <p:grpSp>
        <p:nvGrpSpPr>
          <p:cNvPr id="65" name="Google Shape;277;p52">
            <a:extLst>
              <a:ext uri="{FF2B5EF4-FFF2-40B4-BE49-F238E27FC236}">
                <a16:creationId xmlns:a16="http://schemas.microsoft.com/office/drawing/2014/main" id="{3F935670-DB17-45C3-A5BA-D4A615F8DBFA}"/>
              </a:ext>
            </a:extLst>
          </p:cNvPr>
          <p:cNvGrpSpPr/>
          <p:nvPr/>
        </p:nvGrpSpPr>
        <p:grpSpPr>
          <a:xfrm>
            <a:off x="1264510" y="1239520"/>
            <a:ext cx="3138085" cy="431419"/>
            <a:chOff x="-546732" y="4861628"/>
            <a:chExt cx="3340795" cy="575225"/>
          </a:xfrm>
        </p:grpSpPr>
        <p:sp>
          <p:nvSpPr>
            <p:cNvPr id="66" name="Google Shape;278;p52">
              <a:extLst>
                <a:ext uri="{FF2B5EF4-FFF2-40B4-BE49-F238E27FC236}">
                  <a16:creationId xmlns:a16="http://schemas.microsoft.com/office/drawing/2014/main" id="{E1D8ECEC-BEB7-4B2B-86A6-0CCC2E7765B4}"/>
                </a:ext>
              </a:extLst>
            </p:cNvPr>
            <p:cNvSpPr txBox="1"/>
            <p:nvPr/>
          </p:nvSpPr>
          <p:spPr>
            <a:xfrm>
              <a:off x="-546732" y="4861628"/>
              <a:ext cx="1027515" cy="307777"/>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fr" sz="1050" b="1" dirty="0">
                  <a:solidFill>
                    <a:srgbClr val="FF9900"/>
                  </a:solidFill>
                  <a:latin typeface="Cambria" panose="02040503050406030204" pitchFamily="18" charset="0"/>
                  <a:sym typeface="Arial"/>
                </a:rPr>
                <a:t>Activité</a:t>
              </a:r>
              <a:r>
                <a:rPr lang="fr" sz="1050" b="1" dirty="0">
                  <a:solidFill>
                    <a:srgbClr val="FFC000"/>
                  </a:solidFill>
                  <a:latin typeface="Cambria" panose="02040503050406030204" pitchFamily="18" charset="0"/>
                  <a:sym typeface="Arial"/>
                </a:rPr>
                <a:t> </a:t>
              </a:r>
              <a:endParaRPr sz="1050" b="1" dirty="0">
                <a:solidFill>
                  <a:srgbClr val="FFC000"/>
                </a:solidFill>
                <a:latin typeface="Cambria" panose="02040503050406030204" pitchFamily="18" charset="0"/>
                <a:sym typeface="Arial"/>
              </a:endParaRPr>
            </a:p>
          </p:txBody>
        </p:sp>
        <p:sp>
          <p:nvSpPr>
            <p:cNvPr id="67" name="Google Shape;279;p52">
              <a:extLst>
                <a:ext uri="{FF2B5EF4-FFF2-40B4-BE49-F238E27FC236}">
                  <a16:creationId xmlns:a16="http://schemas.microsoft.com/office/drawing/2014/main" id="{2E64A7A9-9FED-41A9-869F-4D5F0429AC36}"/>
                </a:ext>
              </a:extLst>
            </p:cNvPr>
            <p:cNvSpPr/>
            <p:nvPr/>
          </p:nvSpPr>
          <p:spPr>
            <a:xfrm>
              <a:off x="-32974" y="5190632"/>
              <a:ext cx="2827037" cy="246221"/>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fr" sz="1050" dirty="0">
                  <a:latin typeface="Cambria" panose="02040503050406030204" pitchFamily="18" charset="0"/>
                  <a:sym typeface="Arial"/>
                </a:rPr>
                <a:t>Production </a:t>
              </a:r>
              <a:r>
                <a:rPr lang="fr" sz="1050" b="1" dirty="0">
                  <a:solidFill>
                    <a:schemeClr val="dk1"/>
                  </a:solidFill>
                  <a:latin typeface="Cambria" panose="02040503050406030204" pitchFamily="18" charset="0"/>
                  <a:sym typeface="Arial"/>
                </a:rPr>
                <a:t>des aciers plats </a:t>
              </a:r>
              <a:endParaRPr sz="1050" b="1" dirty="0">
                <a:solidFill>
                  <a:schemeClr val="dk1"/>
                </a:solidFill>
                <a:latin typeface="Cambria" panose="02040503050406030204" pitchFamily="18" charset="0"/>
                <a:sym typeface="Arial"/>
              </a:endParaRPr>
            </a:p>
          </p:txBody>
        </p:sp>
      </p:grpSp>
      <p:grpSp>
        <p:nvGrpSpPr>
          <p:cNvPr id="68" name="Google Shape;280;p52">
            <a:extLst>
              <a:ext uri="{FF2B5EF4-FFF2-40B4-BE49-F238E27FC236}">
                <a16:creationId xmlns:a16="http://schemas.microsoft.com/office/drawing/2014/main" id="{78027C4F-99C6-41E8-932C-CB018E7FA963}"/>
              </a:ext>
            </a:extLst>
          </p:cNvPr>
          <p:cNvGrpSpPr/>
          <p:nvPr/>
        </p:nvGrpSpPr>
        <p:grpSpPr>
          <a:xfrm rot="5400000">
            <a:off x="6216381" y="2331429"/>
            <a:ext cx="50687" cy="730081"/>
            <a:chOff x="6065694" y="3074932"/>
            <a:chExt cx="67582" cy="973442"/>
          </a:xfrm>
        </p:grpSpPr>
        <p:cxnSp>
          <p:nvCxnSpPr>
            <p:cNvPr id="69" name="Google Shape;281;p52">
              <a:extLst>
                <a:ext uri="{FF2B5EF4-FFF2-40B4-BE49-F238E27FC236}">
                  <a16:creationId xmlns:a16="http://schemas.microsoft.com/office/drawing/2014/main" id="{D376FA0F-FB13-4D1F-9F2A-71913F8C35AF}"/>
                </a:ext>
              </a:extLst>
            </p:cNvPr>
            <p:cNvCxnSpPr/>
            <p:nvPr/>
          </p:nvCxnSpPr>
          <p:spPr>
            <a:xfrm>
              <a:off x="6099485" y="3117110"/>
              <a:ext cx="0" cy="931264"/>
            </a:xfrm>
            <a:prstGeom prst="straightConnector1">
              <a:avLst/>
            </a:prstGeom>
            <a:noFill/>
            <a:ln w="9525" cap="flat" cmpd="sng">
              <a:solidFill>
                <a:srgbClr val="001F3E"/>
              </a:solidFill>
              <a:prstDash val="solid"/>
              <a:miter lim="800000"/>
              <a:headEnd type="none" w="sm" len="sm"/>
              <a:tailEnd type="none" w="sm" len="sm"/>
            </a:ln>
          </p:spPr>
        </p:cxnSp>
        <p:sp>
          <p:nvSpPr>
            <p:cNvPr id="70" name="Google Shape;282;p52">
              <a:extLst>
                <a:ext uri="{FF2B5EF4-FFF2-40B4-BE49-F238E27FC236}">
                  <a16:creationId xmlns:a16="http://schemas.microsoft.com/office/drawing/2014/main" id="{A244E1C9-5161-4714-A6C5-525D67AC2BF5}"/>
                </a:ext>
              </a:extLst>
            </p:cNvPr>
            <p:cNvSpPr/>
            <p:nvPr/>
          </p:nvSpPr>
          <p:spPr>
            <a:xfrm>
              <a:off x="6065694" y="3074932"/>
              <a:ext cx="67582" cy="67582"/>
            </a:xfrm>
            <a:prstGeom prst="ellipse">
              <a:avLst/>
            </a:prstGeom>
            <a:solidFill>
              <a:srgbClr val="001F3E"/>
            </a:solidFill>
            <a:ln w="12700" cap="flat" cmpd="sng">
              <a:solidFill>
                <a:srgbClr val="001F3E"/>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050">
                <a:solidFill>
                  <a:schemeClr val="lt1"/>
                </a:solidFill>
                <a:latin typeface="Cambria" panose="02040503050406030204" pitchFamily="18" charset="0"/>
                <a:ea typeface="Calibri"/>
                <a:cs typeface="Calibri"/>
                <a:sym typeface="Calibri"/>
              </a:endParaRPr>
            </a:p>
          </p:txBody>
        </p:sp>
      </p:grpSp>
      <p:pic>
        <p:nvPicPr>
          <p:cNvPr id="71" name="Google Shape;283;p52">
            <a:extLst>
              <a:ext uri="{FF2B5EF4-FFF2-40B4-BE49-F238E27FC236}">
                <a16:creationId xmlns:a16="http://schemas.microsoft.com/office/drawing/2014/main" id="{E209A08B-2EA4-407A-8174-13D57E6444B0}"/>
              </a:ext>
            </a:extLst>
          </p:cNvPr>
          <p:cNvPicPr preferRelativeResize="0"/>
          <p:nvPr/>
        </p:nvPicPr>
        <p:blipFill>
          <a:blip r:embed="rId3">
            <a:alphaModFix/>
          </a:blip>
          <a:stretch>
            <a:fillRect/>
          </a:stretch>
        </p:blipFill>
        <p:spPr>
          <a:xfrm>
            <a:off x="5021738" y="2527160"/>
            <a:ext cx="784175" cy="784175"/>
          </a:xfrm>
          <a:prstGeom prst="rect">
            <a:avLst/>
          </a:prstGeom>
          <a:noFill/>
          <a:ln>
            <a:noFill/>
          </a:ln>
        </p:spPr>
      </p:pic>
      <p:pic>
        <p:nvPicPr>
          <p:cNvPr id="72" name="Google Shape;284;p52">
            <a:extLst>
              <a:ext uri="{FF2B5EF4-FFF2-40B4-BE49-F238E27FC236}">
                <a16:creationId xmlns:a16="http://schemas.microsoft.com/office/drawing/2014/main" id="{E572859A-3E44-4830-9906-7A97A849D9F0}"/>
              </a:ext>
            </a:extLst>
          </p:cNvPr>
          <p:cNvPicPr preferRelativeResize="0"/>
          <p:nvPr/>
        </p:nvPicPr>
        <p:blipFill>
          <a:blip r:embed="rId4">
            <a:alphaModFix/>
          </a:blip>
          <a:stretch>
            <a:fillRect/>
          </a:stretch>
        </p:blipFill>
        <p:spPr>
          <a:xfrm>
            <a:off x="3913875" y="2131585"/>
            <a:ext cx="491900" cy="491900"/>
          </a:xfrm>
          <a:prstGeom prst="rect">
            <a:avLst/>
          </a:prstGeom>
          <a:noFill/>
          <a:ln>
            <a:noFill/>
          </a:ln>
        </p:spPr>
      </p:pic>
      <p:pic>
        <p:nvPicPr>
          <p:cNvPr id="73" name="Google Shape;285;p52">
            <a:extLst>
              <a:ext uri="{FF2B5EF4-FFF2-40B4-BE49-F238E27FC236}">
                <a16:creationId xmlns:a16="http://schemas.microsoft.com/office/drawing/2014/main" id="{240F2D54-3E49-4765-8336-AF9788C35F84}"/>
              </a:ext>
            </a:extLst>
          </p:cNvPr>
          <p:cNvPicPr preferRelativeResize="0"/>
          <p:nvPr/>
        </p:nvPicPr>
        <p:blipFill>
          <a:blip r:embed="rId5">
            <a:alphaModFix/>
          </a:blip>
          <a:stretch>
            <a:fillRect/>
          </a:stretch>
        </p:blipFill>
        <p:spPr>
          <a:xfrm>
            <a:off x="3380363" y="2940662"/>
            <a:ext cx="784175" cy="784175"/>
          </a:xfrm>
          <a:prstGeom prst="rect">
            <a:avLst/>
          </a:prstGeom>
          <a:noFill/>
          <a:ln>
            <a:noFill/>
          </a:ln>
        </p:spPr>
      </p:pic>
      <p:pic>
        <p:nvPicPr>
          <p:cNvPr id="74" name="Google Shape;286;p52">
            <a:extLst>
              <a:ext uri="{FF2B5EF4-FFF2-40B4-BE49-F238E27FC236}">
                <a16:creationId xmlns:a16="http://schemas.microsoft.com/office/drawing/2014/main" id="{FBC6E6F2-9162-46D9-85B4-57205198CD6A}"/>
              </a:ext>
            </a:extLst>
          </p:cNvPr>
          <p:cNvPicPr preferRelativeResize="0"/>
          <p:nvPr/>
        </p:nvPicPr>
        <p:blipFill>
          <a:blip r:embed="rId6">
            <a:alphaModFix/>
          </a:blip>
          <a:stretch>
            <a:fillRect/>
          </a:stretch>
        </p:blipFill>
        <p:spPr>
          <a:xfrm>
            <a:off x="4910823" y="1778785"/>
            <a:ext cx="569400" cy="569400"/>
          </a:xfrm>
          <a:prstGeom prst="rect">
            <a:avLst/>
          </a:prstGeom>
          <a:noFill/>
          <a:ln>
            <a:noFill/>
          </a:ln>
        </p:spPr>
      </p:pic>
      <p:pic>
        <p:nvPicPr>
          <p:cNvPr id="75" name="Google Shape;288;p52">
            <a:extLst>
              <a:ext uri="{FF2B5EF4-FFF2-40B4-BE49-F238E27FC236}">
                <a16:creationId xmlns:a16="http://schemas.microsoft.com/office/drawing/2014/main" id="{AE4B6DA8-F691-4316-8AB7-2AFE34696D8A}"/>
              </a:ext>
            </a:extLst>
          </p:cNvPr>
          <p:cNvPicPr preferRelativeResize="0"/>
          <p:nvPr/>
        </p:nvPicPr>
        <p:blipFill>
          <a:blip r:embed="rId7">
            <a:alphaModFix/>
          </a:blip>
          <a:stretch>
            <a:fillRect/>
          </a:stretch>
        </p:blipFill>
        <p:spPr>
          <a:xfrm>
            <a:off x="4307800" y="1354937"/>
            <a:ext cx="491900" cy="491900"/>
          </a:xfrm>
          <a:prstGeom prst="rect">
            <a:avLst/>
          </a:prstGeom>
          <a:noFill/>
          <a:ln>
            <a:noFill/>
          </a:ln>
        </p:spPr>
      </p:pic>
      <p:pic>
        <p:nvPicPr>
          <p:cNvPr id="78" name="Google Shape;289;p52">
            <a:extLst>
              <a:ext uri="{FF2B5EF4-FFF2-40B4-BE49-F238E27FC236}">
                <a16:creationId xmlns:a16="http://schemas.microsoft.com/office/drawing/2014/main" id="{7DECA547-72FC-41DE-946A-5C4CA548DCFD}"/>
              </a:ext>
            </a:extLst>
          </p:cNvPr>
          <p:cNvPicPr preferRelativeResize="0"/>
          <p:nvPr/>
        </p:nvPicPr>
        <p:blipFill rotWithShape="1">
          <a:blip r:embed="rId8">
            <a:alphaModFix/>
          </a:blip>
          <a:srcRect t="15373" b="11545"/>
          <a:stretch/>
        </p:blipFill>
        <p:spPr>
          <a:xfrm>
            <a:off x="8109284" y="0"/>
            <a:ext cx="1034716" cy="235257"/>
          </a:xfrm>
          <a:prstGeom prst="rect">
            <a:avLst/>
          </a:prstGeom>
          <a:noFill/>
          <a:ln>
            <a:noFill/>
          </a:ln>
        </p:spPr>
      </p:pic>
    </p:spTree>
    <p:extLst>
      <p:ext uri="{BB962C8B-B14F-4D97-AF65-F5344CB8AC3E}">
        <p14:creationId xmlns:p14="http://schemas.microsoft.com/office/powerpoint/2010/main" val="4218859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313" name="Google Shape;313;p53"/>
          <p:cNvGrpSpPr/>
          <p:nvPr/>
        </p:nvGrpSpPr>
        <p:grpSpPr>
          <a:xfrm>
            <a:off x="911754" y="322504"/>
            <a:ext cx="7428627" cy="406840"/>
            <a:chOff x="192230" y="836350"/>
            <a:chExt cx="7093800" cy="542453"/>
          </a:xfrm>
        </p:grpSpPr>
        <p:sp>
          <p:nvSpPr>
            <p:cNvPr id="314" name="Google Shape;314;p53"/>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None/>
              </a:pPr>
              <a:r>
                <a:rPr lang="fr-FR" sz="1700" b="1" dirty="0">
                  <a:solidFill>
                    <a:srgbClr val="001B36"/>
                  </a:solidFill>
                  <a:latin typeface="Cambria" panose="02040503050406030204" pitchFamily="18" charset="0"/>
                  <a:ea typeface="Cambria"/>
                  <a:cs typeface="Cambria"/>
                  <a:sym typeface="Georgia"/>
                </a:rPr>
                <a:t>Site TIT MELLIL</a:t>
              </a:r>
              <a:endParaRPr sz="1700" b="1" dirty="0">
                <a:solidFill>
                  <a:srgbClr val="001B36"/>
                </a:solidFill>
                <a:latin typeface="Cambria" panose="02040503050406030204" pitchFamily="18" charset="0"/>
                <a:ea typeface="Cambria"/>
                <a:cs typeface="Cambria"/>
                <a:sym typeface="Cambria"/>
              </a:endParaRPr>
            </a:p>
          </p:txBody>
        </p:sp>
        <p:sp>
          <p:nvSpPr>
            <p:cNvPr id="315" name="Google Shape;315;p53"/>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36C3A4CC-DF75-45D7-8AA4-ABC64782B27E}"/>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pic>
        <p:nvPicPr>
          <p:cNvPr id="9" name="Image 1">
            <a:extLst>
              <a:ext uri="{FF2B5EF4-FFF2-40B4-BE49-F238E27FC236}">
                <a16:creationId xmlns:a16="http://schemas.microsoft.com/office/drawing/2014/main" id="{BF167408-573D-4800-A1C8-BA8A4F8A0933}"/>
              </a:ext>
            </a:extLst>
          </p:cNvPr>
          <p:cNvPicPr>
            <a:picLocks noChangeAspect="1" noChangeArrowheads="1"/>
          </p:cNvPicPr>
          <p:nvPr/>
        </p:nvPicPr>
        <p:blipFill>
          <a:blip r:embed="rId4"/>
          <a:srcRect l="5220"/>
          <a:stretch>
            <a:fillRect/>
          </a:stretch>
        </p:blipFill>
        <p:spPr bwMode="auto">
          <a:xfrm>
            <a:off x="1179885" y="824371"/>
            <a:ext cx="6784230" cy="4262298"/>
          </a:xfrm>
          <a:prstGeom prst="rect">
            <a:avLst/>
          </a:prstGeom>
          <a:noFill/>
          <a:ln w="9525">
            <a:noFill/>
            <a:miter lim="800000"/>
            <a:headEnd/>
            <a:tailEnd/>
          </a:ln>
        </p:spPr>
      </p:pic>
    </p:spTree>
    <p:extLst>
      <p:ext uri="{BB962C8B-B14F-4D97-AF65-F5344CB8AC3E}">
        <p14:creationId xmlns:p14="http://schemas.microsoft.com/office/powerpoint/2010/main" val="3539719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313" name="Google Shape;313;p53"/>
          <p:cNvGrpSpPr/>
          <p:nvPr/>
        </p:nvGrpSpPr>
        <p:grpSpPr>
          <a:xfrm>
            <a:off x="911754" y="322504"/>
            <a:ext cx="7428627" cy="406840"/>
            <a:chOff x="192230" y="836350"/>
            <a:chExt cx="7093800" cy="542453"/>
          </a:xfrm>
        </p:grpSpPr>
        <p:sp>
          <p:nvSpPr>
            <p:cNvPr id="314" name="Google Shape;314;p53"/>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lvl="0" algn="ctr"/>
              <a:r>
                <a:rPr lang="fr-FR" sz="1700" b="1" dirty="0">
                  <a:solidFill>
                    <a:srgbClr val="001B36"/>
                  </a:solidFill>
                  <a:latin typeface="Cambria" panose="02040503050406030204" pitchFamily="18" charset="0"/>
                  <a:ea typeface="Cambria"/>
                  <a:cs typeface="Cambria"/>
                  <a:sym typeface="Cambria"/>
                </a:rPr>
                <a:t>Présentation du modèle d’optimisation actuel(1/6) : Description</a:t>
              </a:r>
              <a:endParaRPr lang="fr-FR" sz="1700" b="1" dirty="0">
                <a:latin typeface="Cambria" panose="02040503050406030204" pitchFamily="18" charset="0"/>
                <a:ea typeface="Georgia"/>
                <a:cs typeface="Georgia"/>
                <a:sym typeface="Georgia"/>
              </a:endParaRPr>
            </a:p>
          </p:txBody>
        </p:sp>
        <p:sp>
          <p:nvSpPr>
            <p:cNvPr id="315" name="Google Shape;315;p53"/>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36C3A4CC-DF75-45D7-8AA4-ABC64782B27E}"/>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pic>
        <p:nvPicPr>
          <p:cNvPr id="2" name="Image 1">
            <a:extLst>
              <a:ext uri="{FF2B5EF4-FFF2-40B4-BE49-F238E27FC236}">
                <a16:creationId xmlns:a16="http://schemas.microsoft.com/office/drawing/2014/main" id="{2F40ED90-C214-4CD9-AD4E-149EF137729B}"/>
              </a:ext>
            </a:extLst>
          </p:cNvPr>
          <p:cNvPicPr>
            <a:picLocks noChangeAspect="1"/>
          </p:cNvPicPr>
          <p:nvPr/>
        </p:nvPicPr>
        <p:blipFill>
          <a:blip r:embed="rId4"/>
          <a:stretch>
            <a:fillRect/>
          </a:stretch>
        </p:blipFill>
        <p:spPr>
          <a:xfrm>
            <a:off x="1337714" y="894303"/>
            <a:ext cx="6468572" cy="4162345"/>
          </a:xfrm>
          <a:prstGeom prst="rect">
            <a:avLst/>
          </a:prstGeom>
        </p:spPr>
      </p:pic>
    </p:spTree>
    <p:extLst>
      <p:ext uri="{BB962C8B-B14F-4D97-AF65-F5344CB8AC3E}">
        <p14:creationId xmlns:p14="http://schemas.microsoft.com/office/powerpoint/2010/main" val="2000146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313" name="Google Shape;313;p53"/>
          <p:cNvGrpSpPr/>
          <p:nvPr/>
        </p:nvGrpSpPr>
        <p:grpSpPr>
          <a:xfrm>
            <a:off x="911754" y="322504"/>
            <a:ext cx="7428627" cy="406840"/>
            <a:chOff x="192230" y="836350"/>
            <a:chExt cx="7093800" cy="542453"/>
          </a:xfrm>
        </p:grpSpPr>
        <p:sp>
          <p:nvSpPr>
            <p:cNvPr id="314" name="Google Shape;314;p53"/>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algn="ctr"/>
              <a:r>
                <a:rPr lang="fr-FR" sz="1700" b="1" dirty="0">
                  <a:solidFill>
                    <a:srgbClr val="001B36"/>
                  </a:solidFill>
                  <a:latin typeface="Cambria" panose="02040503050406030204" pitchFamily="18" charset="0"/>
                  <a:ea typeface="Cambria"/>
                  <a:cs typeface="Cambria"/>
                  <a:sym typeface="Cambria"/>
                </a:rPr>
                <a:t>Présentation du modèle d’optimisation actuel(2/6) : 5 types d’onglets</a:t>
              </a:r>
              <a:endParaRPr lang="fr-FR" sz="1700" b="1" dirty="0">
                <a:latin typeface="Cambria" panose="02040503050406030204" pitchFamily="18" charset="0"/>
                <a:ea typeface="Georgia"/>
                <a:cs typeface="Georgia"/>
                <a:sym typeface="Georgia"/>
              </a:endParaRPr>
            </a:p>
            <a:p>
              <a:pPr lvl="0" algn="ctr"/>
              <a:endParaRPr lang="fr-FR" sz="1700" b="1" dirty="0">
                <a:latin typeface="Cambria" panose="02040503050406030204" pitchFamily="18" charset="0"/>
                <a:ea typeface="Georgia"/>
                <a:cs typeface="Georgia"/>
                <a:sym typeface="Georgia"/>
              </a:endParaRPr>
            </a:p>
          </p:txBody>
        </p:sp>
        <p:sp>
          <p:nvSpPr>
            <p:cNvPr id="315" name="Google Shape;315;p53"/>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36C3A4CC-DF75-45D7-8AA4-ABC64782B27E}"/>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pic>
        <p:nvPicPr>
          <p:cNvPr id="2" name="Image 1">
            <a:extLst>
              <a:ext uri="{FF2B5EF4-FFF2-40B4-BE49-F238E27FC236}">
                <a16:creationId xmlns:a16="http://schemas.microsoft.com/office/drawing/2014/main" id="{53A21189-6CB6-491D-9F0B-F2D9B9E2623D}"/>
              </a:ext>
            </a:extLst>
          </p:cNvPr>
          <p:cNvPicPr>
            <a:picLocks noChangeAspect="1"/>
          </p:cNvPicPr>
          <p:nvPr/>
        </p:nvPicPr>
        <p:blipFill>
          <a:blip r:embed="rId4"/>
          <a:stretch>
            <a:fillRect/>
          </a:stretch>
        </p:blipFill>
        <p:spPr>
          <a:xfrm>
            <a:off x="1397238" y="871176"/>
            <a:ext cx="6349525" cy="4203081"/>
          </a:xfrm>
          <a:prstGeom prst="rect">
            <a:avLst/>
          </a:prstGeom>
        </p:spPr>
      </p:pic>
    </p:spTree>
    <p:extLst>
      <p:ext uri="{BB962C8B-B14F-4D97-AF65-F5344CB8AC3E}">
        <p14:creationId xmlns:p14="http://schemas.microsoft.com/office/powerpoint/2010/main" val="3654647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313" name="Google Shape;313;p53"/>
          <p:cNvGrpSpPr/>
          <p:nvPr/>
        </p:nvGrpSpPr>
        <p:grpSpPr>
          <a:xfrm>
            <a:off x="911754" y="322504"/>
            <a:ext cx="7428627" cy="406840"/>
            <a:chOff x="192230" y="836350"/>
            <a:chExt cx="7093800" cy="542453"/>
          </a:xfrm>
        </p:grpSpPr>
        <p:sp>
          <p:nvSpPr>
            <p:cNvPr id="314" name="Google Shape;314;p53"/>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lvl="0" algn="ctr"/>
              <a:r>
                <a:rPr lang="fr-FR" sz="1700" b="1" dirty="0">
                  <a:solidFill>
                    <a:srgbClr val="001B36"/>
                  </a:solidFill>
                  <a:latin typeface="Cambria" panose="02040503050406030204" pitchFamily="18" charset="0"/>
                  <a:ea typeface="Cambria"/>
                  <a:cs typeface="Cambria"/>
                  <a:sym typeface="Cambria"/>
                </a:rPr>
                <a:t>Présentation du modèle d’optimisation actuel (3/6)</a:t>
              </a:r>
              <a:endParaRPr lang="fr-FR" sz="1700" b="1" dirty="0">
                <a:latin typeface="Cambria" panose="02040503050406030204" pitchFamily="18" charset="0"/>
                <a:ea typeface="Georgia"/>
                <a:cs typeface="Georgia"/>
                <a:sym typeface="Georgia"/>
              </a:endParaRPr>
            </a:p>
          </p:txBody>
        </p:sp>
        <p:sp>
          <p:nvSpPr>
            <p:cNvPr id="315" name="Google Shape;315;p53"/>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36C3A4CC-DF75-45D7-8AA4-ABC64782B27E}"/>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pic>
        <p:nvPicPr>
          <p:cNvPr id="2" name="Image 1">
            <a:extLst>
              <a:ext uri="{FF2B5EF4-FFF2-40B4-BE49-F238E27FC236}">
                <a16:creationId xmlns:a16="http://schemas.microsoft.com/office/drawing/2014/main" id="{D3546A48-1D01-4EE1-8A28-8F1D020B6537}"/>
              </a:ext>
            </a:extLst>
          </p:cNvPr>
          <p:cNvPicPr>
            <a:picLocks noChangeAspect="1"/>
          </p:cNvPicPr>
          <p:nvPr/>
        </p:nvPicPr>
        <p:blipFill>
          <a:blip r:embed="rId4"/>
          <a:stretch>
            <a:fillRect/>
          </a:stretch>
        </p:blipFill>
        <p:spPr>
          <a:xfrm>
            <a:off x="1564109" y="898754"/>
            <a:ext cx="6015783" cy="4141877"/>
          </a:xfrm>
          <a:prstGeom prst="rect">
            <a:avLst/>
          </a:prstGeom>
        </p:spPr>
      </p:pic>
    </p:spTree>
    <p:extLst>
      <p:ext uri="{BB962C8B-B14F-4D97-AF65-F5344CB8AC3E}">
        <p14:creationId xmlns:p14="http://schemas.microsoft.com/office/powerpoint/2010/main" val="1235956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313" name="Google Shape;313;p53"/>
          <p:cNvGrpSpPr/>
          <p:nvPr/>
        </p:nvGrpSpPr>
        <p:grpSpPr>
          <a:xfrm>
            <a:off x="911754" y="322504"/>
            <a:ext cx="7428627" cy="406840"/>
            <a:chOff x="192230" y="836350"/>
            <a:chExt cx="7093800" cy="542453"/>
          </a:xfrm>
        </p:grpSpPr>
        <p:sp>
          <p:nvSpPr>
            <p:cNvPr id="314" name="Google Shape;314;p53"/>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lvl="0" algn="ctr"/>
              <a:r>
                <a:rPr lang="fr-FR" sz="1700" b="1" dirty="0">
                  <a:solidFill>
                    <a:srgbClr val="001B36"/>
                  </a:solidFill>
                  <a:latin typeface="Cambria" panose="02040503050406030204" pitchFamily="18" charset="0"/>
                  <a:ea typeface="Cambria"/>
                  <a:cs typeface="Cambria"/>
                  <a:sym typeface="Cambria"/>
                </a:rPr>
                <a:t>Présentation du modèle d’optimisation actuel(4/6)</a:t>
              </a:r>
              <a:endParaRPr lang="fr-FR" sz="1700" b="1" dirty="0">
                <a:latin typeface="Cambria" panose="02040503050406030204" pitchFamily="18" charset="0"/>
                <a:ea typeface="Georgia"/>
                <a:cs typeface="Georgia"/>
                <a:sym typeface="Georgia"/>
              </a:endParaRPr>
            </a:p>
          </p:txBody>
        </p:sp>
        <p:sp>
          <p:nvSpPr>
            <p:cNvPr id="315" name="Google Shape;315;p53"/>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36C3A4CC-DF75-45D7-8AA4-ABC64782B27E}"/>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pic>
        <p:nvPicPr>
          <p:cNvPr id="2" name="Image 1">
            <a:extLst>
              <a:ext uri="{FF2B5EF4-FFF2-40B4-BE49-F238E27FC236}">
                <a16:creationId xmlns:a16="http://schemas.microsoft.com/office/drawing/2014/main" id="{F3C9B61C-E5CB-4A79-B8E8-84D905A74741}"/>
              </a:ext>
            </a:extLst>
          </p:cNvPr>
          <p:cNvPicPr>
            <a:picLocks noChangeAspect="1"/>
          </p:cNvPicPr>
          <p:nvPr/>
        </p:nvPicPr>
        <p:blipFill>
          <a:blip r:embed="rId4"/>
          <a:stretch>
            <a:fillRect/>
          </a:stretch>
        </p:blipFill>
        <p:spPr>
          <a:xfrm>
            <a:off x="1544012" y="894968"/>
            <a:ext cx="6055977" cy="4177991"/>
          </a:xfrm>
          <a:prstGeom prst="rect">
            <a:avLst/>
          </a:prstGeom>
        </p:spPr>
      </p:pic>
    </p:spTree>
    <p:extLst>
      <p:ext uri="{BB962C8B-B14F-4D97-AF65-F5344CB8AC3E}">
        <p14:creationId xmlns:p14="http://schemas.microsoft.com/office/powerpoint/2010/main" val="1825081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313" name="Google Shape;313;p53"/>
          <p:cNvGrpSpPr/>
          <p:nvPr/>
        </p:nvGrpSpPr>
        <p:grpSpPr>
          <a:xfrm>
            <a:off x="911754" y="322504"/>
            <a:ext cx="7428627" cy="406840"/>
            <a:chOff x="192230" y="836350"/>
            <a:chExt cx="7093800" cy="542453"/>
          </a:xfrm>
        </p:grpSpPr>
        <p:sp>
          <p:nvSpPr>
            <p:cNvPr id="314" name="Google Shape;314;p53"/>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lvl="0" algn="ctr"/>
              <a:r>
                <a:rPr lang="fr-FR" sz="1700" b="1" dirty="0">
                  <a:solidFill>
                    <a:srgbClr val="001B36"/>
                  </a:solidFill>
                  <a:latin typeface="Cambria" panose="02040503050406030204" pitchFamily="18" charset="0"/>
                  <a:ea typeface="Cambria"/>
                  <a:cs typeface="Cambria"/>
                  <a:sym typeface="Cambria"/>
                </a:rPr>
                <a:t>Présentation du modèle d’optimisation actuel(5/6)</a:t>
              </a:r>
              <a:endParaRPr lang="fr-FR" sz="1700" b="1" dirty="0">
                <a:latin typeface="Cambria" panose="02040503050406030204" pitchFamily="18" charset="0"/>
                <a:ea typeface="Georgia"/>
                <a:cs typeface="Georgia"/>
                <a:sym typeface="Georgia"/>
              </a:endParaRPr>
            </a:p>
          </p:txBody>
        </p:sp>
        <p:sp>
          <p:nvSpPr>
            <p:cNvPr id="315" name="Google Shape;315;p53"/>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36C3A4CC-DF75-45D7-8AA4-ABC64782B27E}"/>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pic>
        <p:nvPicPr>
          <p:cNvPr id="2" name="Image 1">
            <a:extLst>
              <a:ext uri="{FF2B5EF4-FFF2-40B4-BE49-F238E27FC236}">
                <a16:creationId xmlns:a16="http://schemas.microsoft.com/office/drawing/2014/main" id="{BE3B6B92-424C-4835-B540-83196A9180EC}"/>
              </a:ext>
            </a:extLst>
          </p:cNvPr>
          <p:cNvPicPr>
            <a:picLocks noChangeAspect="1"/>
          </p:cNvPicPr>
          <p:nvPr/>
        </p:nvPicPr>
        <p:blipFill>
          <a:blip r:embed="rId4"/>
          <a:stretch>
            <a:fillRect/>
          </a:stretch>
        </p:blipFill>
        <p:spPr>
          <a:xfrm>
            <a:off x="1592692" y="865196"/>
            <a:ext cx="5958616" cy="4189717"/>
          </a:xfrm>
          <a:prstGeom prst="rect">
            <a:avLst/>
          </a:prstGeom>
        </p:spPr>
      </p:pic>
    </p:spTree>
    <p:extLst>
      <p:ext uri="{BB962C8B-B14F-4D97-AF65-F5344CB8AC3E}">
        <p14:creationId xmlns:p14="http://schemas.microsoft.com/office/powerpoint/2010/main" val="2781067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313" name="Google Shape;313;p53"/>
          <p:cNvGrpSpPr/>
          <p:nvPr/>
        </p:nvGrpSpPr>
        <p:grpSpPr>
          <a:xfrm>
            <a:off x="911754" y="322504"/>
            <a:ext cx="7428627" cy="406840"/>
            <a:chOff x="192230" y="836350"/>
            <a:chExt cx="7093800" cy="542453"/>
          </a:xfrm>
        </p:grpSpPr>
        <p:sp>
          <p:nvSpPr>
            <p:cNvPr id="314" name="Google Shape;314;p53"/>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algn="ctr"/>
              <a:r>
                <a:rPr lang="fr-FR" sz="1700" b="1" dirty="0">
                  <a:solidFill>
                    <a:srgbClr val="001B36"/>
                  </a:solidFill>
                  <a:latin typeface="Cambria" panose="02040503050406030204" pitchFamily="18" charset="0"/>
                  <a:ea typeface="Cambria"/>
                  <a:cs typeface="Cambria"/>
                  <a:sym typeface="Cambria"/>
                </a:rPr>
                <a:t>Présentation du modèle d’optimisation actuel(6/6)</a:t>
              </a:r>
              <a:endParaRPr lang="fr-FR" sz="1700" b="1" dirty="0">
                <a:latin typeface="Cambria" panose="02040503050406030204" pitchFamily="18" charset="0"/>
                <a:ea typeface="Georgia"/>
                <a:cs typeface="Georgia"/>
                <a:sym typeface="Georgia"/>
              </a:endParaRPr>
            </a:p>
            <a:p>
              <a:pPr lvl="0" algn="ctr"/>
              <a:endParaRPr lang="fr-FR" sz="1700" b="1" dirty="0">
                <a:latin typeface="Cambria" panose="02040503050406030204" pitchFamily="18" charset="0"/>
                <a:ea typeface="Georgia"/>
                <a:cs typeface="Georgia"/>
                <a:sym typeface="Georgia"/>
              </a:endParaRPr>
            </a:p>
          </p:txBody>
        </p:sp>
        <p:sp>
          <p:nvSpPr>
            <p:cNvPr id="315" name="Google Shape;315;p53"/>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36C3A4CC-DF75-45D7-8AA4-ABC64782B27E}"/>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pic>
        <p:nvPicPr>
          <p:cNvPr id="2" name="Image 1">
            <a:extLst>
              <a:ext uri="{FF2B5EF4-FFF2-40B4-BE49-F238E27FC236}">
                <a16:creationId xmlns:a16="http://schemas.microsoft.com/office/drawing/2014/main" id="{2333DE71-4A5B-49D9-9EFA-948CC5CBDA14}"/>
              </a:ext>
            </a:extLst>
          </p:cNvPr>
          <p:cNvPicPr>
            <a:picLocks noChangeAspect="1"/>
          </p:cNvPicPr>
          <p:nvPr/>
        </p:nvPicPr>
        <p:blipFill>
          <a:blip r:embed="rId4"/>
          <a:stretch>
            <a:fillRect/>
          </a:stretch>
        </p:blipFill>
        <p:spPr>
          <a:xfrm>
            <a:off x="1620928" y="890161"/>
            <a:ext cx="5902144" cy="4164752"/>
          </a:xfrm>
          <a:prstGeom prst="rect">
            <a:avLst/>
          </a:prstGeom>
        </p:spPr>
      </p:pic>
    </p:spTree>
    <p:extLst>
      <p:ext uri="{BB962C8B-B14F-4D97-AF65-F5344CB8AC3E}">
        <p14:creationId xmlns:p14="http://schemas.microsoft.com/office/powerpoint/2010/main" val="3355893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7">
          <a:extLst>
            <a:ext uri="{FF2B5EF4-FFF2-40B4-BE49-F238E27FC236}">
              <a16:creationId xmlns:a16="http://schemas.microsoft.com/office/drawing/2014/main" id="{09644BE3-4CF5-17A5-5142-247CE28D0AF2}"/>
            </a:ext>
          </a:extLst>
        </p:cNvPr>
        <p:cNvGrpSpPr/>
        <p:nvPr/>
      </p:nvGrpSpPr>
      <p:grpSpPr>
        <a:xfrm>
          <a:off x="0" y="0"/>
          <a:ext cx="0" cy="0"/>
          <a:chOff x="0" y="0"/>
          <a:chExt cx="0" cy="0"/>
        </a:xfrm>
      </p:grpSpPr>
      <p:grpSp>
        <p:nvGrpSpPr>
          <p:cNvPr id="313" name="Google Shape;313;p53">
            <a:extLst>
              <a:ext uri="{FF2B5EF4-FFF2-40B4-BE49-F238E27FC236}">
                <a16:creationId xmlns:a16="http://schemas.microsoft.com/office/drawing/2014/main" id="{2C0B8BCE-4AE2-27C9-A83C-8DF733425BFD}"/>
              </a:ext>
            </a:extLst>
          </p:cNvPr>
          <p:cNvGrpSpPr/>
          <p:nvPr/>
        </p:nvGrpSpPr>
        <p:grpSpPr>
          <a:xfrm>
            <a:off x="911754" y="322504"/>
            <a:ext cx="7428627" cy="406840"/>
            <a:chOff x="192230" y="836350"/>
            <a:chExt cx="7093800" cy="542453"/>
          </a:xfrm>
        </p:grpSpPr>
        <p:sp>
          <p:nvSpPr>
            <p:cNvPr id="314" name="Google Shape;314;p53">
              <a:extLst>
                <a:ext uri="{FF2B5EF4-FFF2-40B4-BE49-F238E27FC236}">
                  <a16:creationId xmlns:a16="http://schemas.microsoft.com/office/drawing/2014/main" id="{58108140-3586-AE2C-6F3C-3A5C3329A94A}"/>
                </a:ext>
              </a:extLst>
            </p:cNvPr>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algn="ctr"/>
              <a:r>
                <a:rPr lang="fr-FR" sz="1700" b="1" dirty="0">
                  <a:solidFill>
                    <a:srgbClr val="001B36"/>
                  </a:solidFill>
                  <a:latin typeface="Cambria" panose="02040503050406030204" pitchFamily="18" charset="0"/>
                  <a:ea typeface="Cambria"/>
                  <a:cs typeface="Cambria"/>
                  <a:sym typeface="Cambria"/>
                </a:rPr>
                <a:t>Contexte du projet </a:t>
              </a:r>
              <a:endParaRPr lang="fr-FR" sz="1700" b="1" dirty="0">
                <a:latin typeface="Cambria" panose="02040503050406030204" pitchFamily="18" charset="0"/>
                <a:ea typeface="Georgia"/>
                <a:cs typeface="Georgia"/>
                <a:sym typeface="Georgia"/>
              </a:endParaRPr>
            </a:p>
            <a:p>
              <a:pPr lvl="0" algn="ctr"/>
              <a:endParaRPr lang="fr-FR" sz="1700" b="1" dirty="0">
                <a:latin typeface="Cambria" panose="02040503050406030204" pitchFamily="18" charset="0"/>
                <a:ea typeface="Georgia"/>
                <a:cs typeface="Georgia"/>
                <a:sym typeface="Georgia"/>
              </a:endParaRPr>
            </a:p>
          </p:txBody>
        </p:sp>
        <p:sp>
          <p:nvSpPr>
            <p:cNvPr id="315" name="Google Shape;315;p53">
              <a:extLst>
                <a:ext uri="{FF2B5EF4-FFF2-40B4-BE49-F238E27FC236}">
                  <a16:creationId xmlns:a16="http://schemas.microsoft.com/office/drawing/2014/main" id="{F69961E9-C7D5-DABB-27F9-AB1203292872}"/>
                </a:ext>
              </a:extLst>
            </p:cNvPr>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a:extLst>
              <a:ext uri="{FF2B5EF4-FFF2-40B4-BE49-F238E27FC236}">
                <a16:creationId xmlns:a16="http://schemas.microsoft.com/office/drawing/2014/main" id="{9588F308-8330-BB7B-2584-4953E7FC86DD}"/>
              </a:ext>
            </a:extLst>
          </p:cNvPr>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799C2BFE-FBC6-1523-4D00-CCF8101AFE53}"/>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sp>
        <p:nvSpPr>
          <p:cNvPr id="3" name="ZoneTexte 2">
            <a:extLst>
              <a:ext uri="{FF2B5EF4-FFF2-40B4-BE49-F238E27FC236}">
                <a16:creationId xmlns:a16="http://schemas.microsoft.com/office/drawing/2014/main" id="{9B2F9E79-F11D-2B43-CCAF-7AE56FADFCBF}"/>
              </a:ext>
            </a:extLst>
          </p:cNvPr>
          <p:cNvSpPr txBox="1"/>
          <p:nvPr/>
        </p:nvSpPr>
        <p:spPr>
          <a:xfrm>
            <a:off x="819614" y="1211125"/>
            <a:ext cx="7460536" cy="2246769"/>
          </a:xfrm>
          <a:prstGeom prst="rect">
            <a:avLst/>
          </a:prstGeom>
          <a:noFill/>
        </p:spPr>
        <p:txBody>
          <a:bodyPr wrap="square" rtlCol="0">
            <a:spAutoFit/>
          </a:bodyPr>
          <a:lstStyle/>
          <a:p>
            <a:pPr algn="just"/>
            <a:r>
              <a:rPr lang="fr-FR" dirty="0"/>
              <a:t>Maghreb Steel reçoit des consultations commerciales portant sur des tonnages spécifiques répartis par client, famille produit et dimension (grade – épaisseur – largeur). La réponse à ces consultations nécessite la mise en place d’un programme de production en fonction de la capacité de production disponible sur l'horizon de temps considéré et le volume demandé, en tenant compte d'un ensemble de contraintes industrielles, financières et logistiques.</a:t>
            </a:r>
            <a:endParaRPr lang="fr-MA" dirty="0"/>
          </a:p>
          <a:p>
            <a:pPr algn="just"/>
            <a:r>
              <a:rPr lang="fr-FR" dirty="0"/>
              <a:t> </a:t>
            </a:r>
            <a:endParaRPr lang="fr-MA" dirty="0"/>
          </a:p>
          <a:p>
            <a:pPr algn="just"/>
            <a:r>
              <a:rPr lang="fr-FR" dirty="0"/>
              <a:t>L’objectif de ce projet est de mettre en place un Simulateur Capacité-Commande qui centralise cette décision et propose un plan de marche optimal.</a:t>
            </a:r>
            <a:endParaRPr lang="fr-MA" dirty="0"/>
          </a:p>
          <a:p>
            <a:r>
              <a:rPr lang="fr-FR" dirty="0"/>
              <a:t> </a:t>
            </a:r>
            <a:endParaRPr lang="fr-MA" dirty="0"/>
          </a:p>
          <a:p>
            <a:endParaRPr lang="fr-MA" dirty="0"/>
          </a:p>
        </p:txBody>
      </p:sp>
    </p:spTree>
    <p:extLst>
      <p:ext uri="{BB962C8B-B14F-4D97-AF65-F5344CB8AC3E}">
        <p14:creationId xmlns:p14="http://schemas.microsoft.com/office/powerpoint/2010/main" val="4089704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7">
          <a:extLst>
            <a:ext uri="{FF2B5EF4-FFF2-40B4-BE49-F238E27FC236}">
              <a16:creationId xmlns:a16="http://schemas.microsoft.com/office/drawing/2014/main" id="{BCB9B7BC-D1A4-4B6F-00CC-0CB4751D2209}"/>
            </a:ext>
          </a:extLst>
        </p:cNvPr>
        <p:cNvGrpSpPr/>
        <p:nvPr/>
      </p:nvGrpSpPr>
      <p:grpSpPr>
        <a:xfrm>
          <a:off x="0" y="0"/>
          <a:ext cx="0" cy="0"/>
          <a:chOff x="0" y="0"/>
          <a:chExt cx="0" cy="0"/>
        </a:xfrm>
      </p:grpSpPr>
      <p:grpSp>
        <p:nvGrpSpPr>
          <p:cNvPr id="313" name="Google Shape;313;p53">
            <a:extLst>
              <a:ext uri="{FF2B5EF4-FFF2-40B4-BE49-F238E27FC236}">
                <a16:creationId xmlns:a16="http://schemas.microsoft.com/office/drawing/2014/main" id="{057EBDE2-51FF-3F94-1501-587E0292EAB5}"/>
              </a:ext>
            </a:extLst>
          </p:cNvPr>
          <p:cNvGrpSpPr/>
          <p:nvPr/>
        </p:nvGrpSpPr>
        <p:grpSpPr>
          <a:xfrm>
            <a:off x="911754" y="322504"/>
            <a:ext cx="7428627" cy="406840"/>
            <a:chOff x="192230" y="836350"/>
            <a:chExt cx="7093800" cy="542453"/>
          </a:xfrm>
        </p:grpSpPr>
        <p:sp>
          <p:nvSpPr>
            <p:cNvPr id="314" name="Google Shape;314;p53">
              <a:extLst>
                <a:ext uri="{FF2B5EF4-FFF2-40B4-BE49-F238E27FC236}">
                  <a16:creationId xmlns:a16="http://schemas.microsoft.com/office/drawing/2014/main" id="{0B39905B-0E08-2B7B-F218-C9FA630A6108}"/>
                </a:ext>
              </a:extLst>
            </p:cNvPr>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algn="ctr"/>
              <a:r>
                <a:rPr lang="fr-FR" sz="1700" b="1" dirty="0">
                  <a:solidFill>
                    <a:srgbClr val="001B36"/>
                  </a:solidFill>
                  <a:latin typeface="Cambria" panose="02040503050406030204" pitchFamily="18" charset="0"/>
                  <a:ea typeface="Cambria"/>
                  <a:cs typeface="Georgia"/>
                  <a:sym typeface="Cambria"/>
                </a:rPr>
                <a:t>Objectifs du projet</a:t>
              </a:r>
              <a:endParaRPr lang="fr-FR" sz="1700" b="1" dirty="0">
                <a:latin typeface="Cambria" panose="02040503050406030204" pitchFamily="18" charset="0"/>
                <a:ea typeface="Georgia"/>
                <a:cs typeface="Georgia"/>
                <a:sym typeface="Georgia"/>
              </a:endParaRPr>
            </a:p>
            <a:p>
              <a:pPr lvl="0" algn="ctr"/>
              <a:endParaRPr lang="fr-FR" sz="1700" b="1" dirty="0">
                <a:latin typeface="Cambria" panose="02040503050406030204" pitchFamily="18" charset="0"/>
                <a:ea typeface="Georgia"/>
                <a:cs typeface="Georgia"/>
                <a:sym typeface="Georgia"/>
              </a:endParaRPr>
            </a:p>
          </p:txBody>
        </p:sp>
        <p:sp>
          <p:nvSpPr>
            <p:cNvPr id="315" name="Google Shape;315;p53">
              <a:extLst>
                <a:ext uri="{FF2B5EF4-FFF2-40B4-BE49-F238E27FC236}">
                  <a16:creationId xmlns:a16="http://schemas.microsoft.com/office/drawing/2014/main" id="{9486AC14-5F28-664C-03C7-C6D3FBBFC249}"/>
                </a:ext>
              </a:extLst>
            </p:cNvPr>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a:extLst>
              <a:ext uri="{FF2B5EF4-FFF2-40B4-BE49-F238E27FC236}">
                <a16:creationId xmlns:a16="http://schemas.microsoft.com/office/drawing/2014/main" id="{DDE9E635-2A7E-156A-3787-F88D01622C18}"/>
              </a:ext>
            </a:extLst>
          </p:cNvPr>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6060EA77-DB8E-F6C6-D2D5-64F01D811555}"/>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sp>
        <p:nvSpPr>
          <p:cNvPr id="3" name="ZoneTexte 2">
            <a:extLst>
              <a:ext uri="{FF2B5EF4-FFF2-40B4-BE49-F238E27FC236}">
                <a16:creationId xmlns:a16="http://schemas.microsoft.com/office/drawing/2014/main" id="{D63298C1-B6DD-CE61-FEB3-ABFD398FFE7A}"/>
              </a:ext>
            </a:extLst>
          </p:cNvPr>
          <p:cNvSpPr txBox="1"/>
          <p:nvPr/>
        </p:nvSpPr>
        <p:spPr>
          <a:xfrm>
            <a:off x="819614" y="1211125"/>
            <a:ext cx="7460536" cy="2893100"/>
          </a:xfrm>
          <a:prstGeom prst="rect">
            <a:avLst/>
          </a:prstGeom>
          <a:noFill/>
        </p:spPr>
        <p:txBody>
          <a:bodyPr wrap="square" rtlCol="0">
            <a:spAutoFit/>
          </a:bodyPr>
          <a:lstStyle/>
          <a:p>
            <a:pPr lvl="0"/>
            <a:r>
              <a:rPr lang="fr-FR" dirty="0"/>
              <a:t>Le modèle souhaité doit:</a:t>
            </a:r>
          </a:p>
          <a:p>
            <a:pPr lvl="0"/>
            <a:endParaRPr lang="fr-FR" dirty="0"/>
          </a:p>
          <a:p>
            <a:pPr marL="285750" lvl="0" indent="-285750">
              <a:buFont typeface="Arial" panose="020B0604020202020204" pitchFamily="34" charset="0"/>
              <a:buChar char="•"/>
            </a:pPr>
            <a:r>
              <a:rPr lang="fr-FR" dirty="0"/>
              <a:t>Permettre de répondre à toute consultation (entrante ou en carnet encours) par un délai de production réaliste et un engagement de tonnage livrable.</a:t>
            </a:r>
            <a:endParaRPr lang="fr-MA" dirty="0"/>
          </a:p>
          <a:p>
            <a:pPr marL="285750" lvl="0" indent="-285750">
              <a:buFont typeface="Arial" panose="020B0604020202020204" pitchFamily="34" charset="0"/>
              <a:buChar char="•"/>
            </a:pPr>
            <a:r>
              <a:rPr lang="fr-FR" dirty="0"/>
              <a:t>Maximiser la marge sur coût variable sur l'horizon de planification (mensuel à trimestriel).</a:t>
            </a:r>
            <a:endParaRPr lang="fr-MA" dirty="0"/>
          </a:p>
          <a:p>
            <a:pPr marL="285750" lvl="0" indent="-285750">
              <a:buFont typeface="Arial" panose="020B0604020202020204" pitchFamily="34" charset="0"/>
              <a:buChar char="•"/>
            </a:pPr>
            <a:r>
              <a:rPr lang="fr-FR" dirty="0"/>
              <a:t>Respecter l'ensemble des contraintes : capacité machine, flux métallurgique, stock produit et </a:t>
            </a:r>
            <a:r>
              <a:rPr lang="fr-FR" dirty="0" err="1"/>
              <a:t>interprocess</a:t>
            </a:r>
            <a:r>
              <a:rPr lang="fr-FR" dirty="0"/>
              <a:t> (stock de produits semi-finis intermédiaire en deux lignes de productions successives), planning des arrêts préventifs, plafonds et encours clients, tombées financières.</a:t>
            </a:r>
            <a:endParaRPr lang="fr-MA" dirty="0"/>
          </a:p>
          <a:p>
            <a:pPr marL="285750" lvl="0" indent="-285750">
              <a:buFont typeface="Arial" panose="020B0604020202020204" pitchFamily="34" charset="0"/>
              <a:buChar char="•"/>
            </a:pPr>
            <a:r>
              <a:rPr lang="fr-FR" dirty="0"/>
              <a:t>Produire un plan de marche (ou programme de production) par campagne, famille produit et ligne de production, directement exploitable par le département Planification.</a:t>
            </a:r>
          </a:p>
          <a:p>
            <a:pPr marL="285750" lvl="0" indent="-285750">
              <a:buFont typeface="Arial" panose="020B0604020202020204" pitchFamily="34" charset="0"/>
              <a:buChar char="•"/>
            </a:pPr>
            <a:r>
              <a:rPr lang="en-US" dirty="0"/>
              <a:t>Identifier et </a:t>
            </a:r>
            <a:r>
              <a:rPr lang="en-US" dirty="0" err="1"/>
              <a:t>alerter</a:t>
            </a:r>
            <a:r>
              <a:rPr lang="en-US" dirty="0"/>
              <a:t> sur </a:t>
            </a:r>
            <a:r>
              <a:rPr lang="en-US" dirty="0" err="1"/>
              <a:t>chaque</a:t>
            </a:r>
            <a:r>
              <a:rPr lang="en-US" dirty="0"/>
              <a:t> article non </a:t>
            </a:r>
            <a:r>
              <a:rPr lang="en-US" dirty="0" err="1"/>
              <a:t>planifiable</a:t>
            </a:r>
            <a:r>
              <a:rPr lang="en-US" dirty="0"/>
              <a:t> avec la </a:t>
            </a:r>
            <a:r>
              <a:rPr lang="en-US" dirty="0" err="1"/>
              <a:t>contrainte</a:t>
            </a:r>
            <a:r>
              <a:rPr lang="en-US" dirty="0"/>
              <a:t> </a:t>
            </a:r>
            <a:r>
              <a:rPr lang="en-US" dirty="0" err="1"/>
              <a:t>bloquante</a:t>
            </a:r>
            <a:endParaRPr lang="fr-MA" dirty="0"/>
          </a:p>
          <a:p>
            <a:endParaRPr lang="fr-MA" dirty="0"/>
          </a:p>
        </p:txBody>
      </p:sp>
    </p:spTree>
    <p:extLst>
      <p:ext uri="{BB962C8B-B14F-4D97-AF65-F5344CB8AC3E}">
        <p14:creationId xmlns:p14="http://schemas.microsoft.com/office/powerpoint/2010/main" val="3825630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7">
          <a:extLst>
            <a:ext uri="{FF2B5EF4-FFF2-40B4-BE49-F238E27FC236}">
              <a16:creationId xmlns:a16="http://schemas.microsoft.com/office/drawing/2014/main" id="{F3A35A2C-282E-FD12-E88A-5F489BB1D19A}"/>
            </a:ext>
          </a:extLst>
        </p:cNvPr>
        <p:cNvGrpSpPr/>
        <p:nvPr/>
      </p:nvGrpSpPr>
      <p:grpSpPr>
        <a:xfrm>
          <a:off x="0" y="0"/>
          <a:ext cx="0" cy="0"/>
          <a:chOff x="0" y="0"/>
          <a:chExt cx="0" cy="0"/>
        </a:xfrm>
      </p:grpSpPr>
      <p:grpSp>
        <p:nvGrpSpPr>
          <p:cNvPr id="313" name="Google Shape;313;p53">
            <a:extLst>
              <a:ext uri="{FF2B5EF4-FFF2-40B4-BE49-F238E27FC236}">
                <a16:creationId xmlns:a16="http://schemas.microsoft.com/office/drawing/2014/main" id="{FBA5D3B6-5371-9CE5-73EE-1AD9E1199E7D}"/>
              </a:ext>
            </a:extLst>
          </p:cNvPr>
          <p:cNvGrpSpPr/>
          <p:nvPr/>
        </p:nvGrpSpPr>
        <p:grpSpPr>
          <a:xfrm>
            <a:off x="911754" y="322504"/>
            <a:ext cx="7428627" cy="406840"/>
            <a:chOff x="192230" y="836350"/>
            <a:chExt cx="7093800" cy="542453"/>
          </a:xfrm>
        </p:grpSpPr>
        <p:sp>
          <p:nvSpPr>
            <p:cNvPr id="314" name="Google Shape;314;p53">
              <a:extLst>
                <a:ext uri="{FF2B5EF4-FFF2-40B4-BE49-F238E27FC236}">
                  <a16:creationId xmlns:a16="http://schemas.microsoft.com/office/drawing/2014/main" id="{B8C43FFF-84A2-2A49-2FE7-510D49C9C334}"/>
                </a:ext>
              </a:extLst>
            </p:cNvPr>
            <p:cNvSpPr txBox="1"/>
            <p:nvPr/>
          </p:nvSpPr>
          <p:spPr>
            <a:xfrm>
              <a:off x="192230" y="836350"/>
              <a:ext cx="7093800" cy="542453"/>
            </a:xfrm>
            <a:prstGeom prst="rect">
              <a:avLst/>
            </a:prstGeom>
            <a:noFill/>
            <a:ln>
              <a:noFill/>
            </a:ln>
          </p:spPr>
          <p:txBody>
            <a:bodyPr spcFirstLastPara="1" wrap="square" lIns="68575" tIns="34275" rIns="68575" bIns="34275" anchor="t" anchorCtr="0">
              <a:noAutofit/>
            </a:bodyPr>
            <a:lstStyle/>
            <a:p>
              <a:pPr algn="ctr"/>
              <a:r>
                <a:rPr lang="fr-FR" sz="1700" b="1" dirty="0">
                  <a:solidFill>
                    <a:srgbClr val="001B36"/>
                  </a:solidFill>
                  <a:latin typeface="Cambria" panose="02040503050406030204" pitchFamily="18" charset="0"/>
                  <a:ea typeface="Cambria"/>
                  <a:cs typeface="Georgia"/>
                  <a:sym typeface="Cambria"/>
                </a:rPr>
                <a:t>Périmètre du projet</a:t>
              </a:r>
              <a:endParaRPr lang="fr-FR" sz="1700" b="1" dirty="0">
                <a:latin typeface="Cambria" panose="02040503050406030204" pitchFamily="18" charset="0"/>
                <a:ea typeface="Georgia"/>
                <a:cs typeface="Georgia"/>
                <a:sym typeface="Georgia"/>
              </a:endParaRPr>
            </a:p>
            <a:p>
              <a:pPr lvl="0" algn="ctr"/>
              <a:endParaRPr lang="fr-FR" sz="1700" b="1" dirty="0">
                <a:latin typeface="Cambria" panose="02040503050406030204" pitchFamily="18" charset="0"/>
                <a:ea typeface="Georgia"/>
                <a:cs typeface="Georgia"/>
                <a:sym typeface="Georgia"/>
              </a:endParaRPr>
            </a:p>
          </p:txBody>
        </p:sp>
        <p:sp>
          <p:nvSpPr>
            <p:cNvPr id="315" name="Google Shape;315;p53">
              <a:extLst>
                <a:ext uri="{FF2B5EF4-FFF2-40B4-BE49-F238E27FC236}">
                  <a16:creationId xmlns:a16="http://schemas.microsoft.com/office/drawing/2014/main" id="{A2FD8D81-10B2-6AB4-C31A-ACF0894DDA49}"/>
                </a:ext>
              </a:extLst>
            </p:cNvPr>
            <p:cNvSpPr txBox="1"/>
            <p:nvPr/>
          </p:nvSpPr>
          <p:spPr>
            <a:xfrm>
              <a:off x="927046" y="900783"/>
              <a:ext cx="184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grpSp>
      <p:sp>
        <p:nvSpPr>
          <p:cNvPr id="317" name="Google Shape;317;p53">
            <a:extLst>
              <a:ext uri="{FF2B5EF4-FFF2-40B4-BE49-F238E27FC236}">
                <a16:creationId xmlns:a16="http://schemas.microsoft.com/office/drawing/2014/main" id="{4BFCFD0A-5EFD-BBC0-E4C6-BFE609F40E93}"/>
              </a:ext>
            </a:extLst>
          </p:cNvPr>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B554D4BA-42F0-F7CD-2BD2-6C7E0458BF30}"/>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sp>
        <p:nvSpPr>
          <p:cNvPr id="3" name="ZoneTexte 2">
            <a:extLst>
              <a:ext uri="{FF2B5EF4-FFF2-40B4-BE49-F238E27FC236}">
                <a16:creationId xmlns:a16="http://schemas.microsoft.com/office/drawing/2014/main" id="{9B96A4F5-9F2E-54D0-1DA8-59B3D4E3665D}"/>
              </a:ext>
            </a:extLst>
          </p:cNvPr>
          <p:cNvSpPr txBox="1"/>
          <p:nvPr/>
        </p:nvSpPr>
        <p:spPr>
          <a:xfrm>
            <a:off x="771169" y="816591"/>
            <a:ext cx="7460536" cy="461665"/>
          </a:xfrm>
          <a:prstGeom prst="rect">
            <a:avLst/>
          </a:prstGeom>
          <a:noFill/>
        </p:spPr>
        <p:txBody>
          <a:bodyPr wrap="square" rtlCol="0">
            <a:spAutoFit/>
          </a:bodyPr>
          <a:lstStyle/>
          <a:p>
            <a:r>
              <a:rPr lang="fr-FR" sz="1200" dirty="0"/>
              <a:t>le modèle de simulation sera destiné en premier lieu à faire programmer les commandes à produire sur le site du laminage à froid. ci-dessous le schéma descriptif des process de fabrication en question :</a:t>
            </a:r>
            <a:endParaRPr lang="fr-MA" sz="1200" dirty="0"/>
          </a:p>
        </p:txBody>
      </p:sp>
      <p:pic>
        <p:nvPicPr>
          <p:cNvPr id="12" name="Image 11">
            <a:extLst>
              <a:ext uri="{FF2B5EF4-FFF2-40B4-BE49-F238E27FC236}">
                <a16:creationId xmlns:a16="http://schemas.microsoft.com/office/drawing/2014/main" id="{F8E910DE-B659-D776-D6C1-0B87ED1CD7F8}"/>
              </a:ext>
            </a:extLst>
          </p:cNvPr>
          <p:cNvPicPr>
            <a:picLocks noChangeAspect="1"/>
          </p:cNvPicPr>
          <p:nvPr/>
        </p:nvPicPr>
        <p:blipFill>
          <a:blip r:embed="rId4"/>
          <a:stretch>
            <a:fillRect/>
          </a:stretch>
        </p:blipFill>
        <p:spPr>
          <a:xfrm>
            <a:off x="681258" y="1398883"/>
            <a:ext cx="7781484" cy="3599413"/>
          </a:xfrm>
          <a:prstGeom prst="rect">
            <a:avLst/>
          </a:prstGeom>
        </p:spPr>
      </p:pic>
    </p:spTree>
    <p:extLst>
      <p:ext uri="{BB962C8B-B14F-4D97-AF65-F5344CB8AC3E}">
        <p14:creationId xmlns:p14="http://schemas.microsoft.com/office/powerpoint/2010/main" val="2694707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7">
          <a:extLst>
            <a:ext uri="{FF2B5EF4-FFF2-40B4-BE49-F238E27FC236}">
              <a16:creationId xmlns:a16="http://schemas.microsoft.com/office/drawing/2014/main" id="{69F5392B-E725-F950-33D6-2925851D41CA}"/>
            </a:ext>
          </a:extLst>
        </p:cNvPr>
        <p:cNvGrpSpPr/>
        <p:nvPr/>
      </p:nvGrpSpPr>
      <p:grpSpPr>
        <a:xfrm>
          <a:off x="0" y="0"/>
          <a:ext cx="0" cy="0"/>
          <a:chOff x="0" y="0"/>
          <a:chExt cx="0" cy="0"/>
        </a:xfrm>
      </p:grpSpPr>
      <p:sp>
        <p:nvSpPr>
          <p:cNvPr id="315" name="Google Shape;315;p53">
            <a:extLst>
              <a:ext uri="{FF2B5EF4-FFF2-40B4-BE49-F238E27FC236}">
                <a16:creationId xmlns:a16="http://schemas.microsoft.com/office/drawing/2014/main" id="{B27A8826-3AC4-7BDF-2287-54B2802753B7}"/>
              </a:ext>
            </a:extLst>
          </p:cNvPr>
          <p:cNvSpPr txBox="1"/>
          <p:nvPr/>
        </p:nvSpPr>
        <p:spPr>
          <a:xfrm>
            <a:off x="1681253" y="370829"/>
            <a:ext cx="193523" cy="207675"/>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sp>
        <p:nvSpPr>
          <p:cNvPr id="317" name="Google Shape;317;p53">
            <a:extLst>
              <a:ext uri="{FF2B5EF4-FFF2-40B4-BE49-F238E27FC236}">
                <a16:creationId xmlns:a16="http://schemas.microsoft.com/office/drawing/2014/main" id="{9A29790C-6B80-119B-F827-CE1225A97D1A}"/>
              </a:ext>
            </a:extLst>
          </p:cNvPr>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D57EF098-EDDE-7B0D-4143-2381F7C6248C}"/>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sp>
        <p:nvSpPr>
          <p:cNvPr id="2" name="Google Shape;314;p53">
            <a:extLst>
              <a:ext uri="{FF2B5EF4-FFF2-40B4-BE49-F238E27FC236}">
                <a16:creationId xmlns:a16="http://schemas.microsoft.com/office/drawing/2014/main" id="{AC7CCC8D-5325-2BF2-05B4-1869B363C37B}"/>
              </a:ext>
            </a:extLst>
          </p:cNvPr>
          <p:cNvSpPr txBox="1"/>
          <p:nvPr/>
        </p:nvSpPr>
        <p:spPr>
          <a:xfrm>
            <a:off x="911754" y="322504"/>
            <a:ext cx="7428627" cy="406840"/>
          </a:xfrm>
          <a:prstGeom prst="rect">
            <a:avLst/>
          </a:prstGeom>
          <a:noFill/>
          <a:ln>
            <a:noFill/>
          </a:ln>
        </p:spPr>
        <p:txBody>
          <a:bodyPr spcFirstLastPara="1" wrap="square" lIns="68575" tIns="34275" rIns="68575" bIns="34275" anchor="t" anchorCtr="0">
            <a:noAutofit/>
          </a:bodyPr>
          <a:lstStyle/>
          <a:p>
            <a:pPr algn="ctr"/>
            <a:r>
              <a:rPr lang="fr-FR" sz="1700" b="1" dirty="0">
                <a:solidFill>
                  <a:srgbClr val="001B36"/>
                </a:solidFill>
                <a:latin typeface="Cambria" panose="02040503050406030204" pitchFamily="18" charset="0"/>
                <a:ea typeface="Cambria"/>
                <a:cs typeface="Georgia"/>
                <a:sym typeface="Cambria"/>
              </a:rPr>
              <a:t> cartographie des données d’entrée du modèle</a:t>
            </a:r>
            <a:endParaRPr lang="fr-FR" sz="1700" b="1" dirty="0">
              <a:latin typeface="Cambria" panose="02040503050406030204" pitchFamily="18" charset="0"/>
              <a:ea typeface="Georgia"/>
              <a:cs typeface="Georgia"/>
              <a:sym typeface="Georgia"/>
            </a:endParaRPr>
          </a:p>
          <a:p>
            <a:pPr lvl="0" algn="ctr"/>
            <a:endParaRPr lang="fr-FR" sz="1700" b="1" dirty="0">
              <a:latin typeface="Cambria" panose="02040503050406030204" pitchFamily="18" charset="0"/>
              <a:ea typeface="Georgia"/>
              <a:cs typeface="Georgia"/>
              <a:sym typeface="Georgia"/>
            </a:endParaRPr>
          </a:p>
        </p:txBody>
      </p:sp>
      <p:pic>
        <p:nvPicPr>
          <p:cNvPr id="42" name="Image 41">
            <a:extLst>
              <a:ext uri="{FF2B5EF4-FFF2-40B4-BE49-F238E27FC236}">
                <a16:creationId xmlns:a16="http://schemas.microsoft.com/office/drawing/2014/main" id="{C2A2C0B9-4AE9-AAC3-61B2-A6486410DF1D}"/>
              </a:ext>
            </a:extLst>
          </p:cNvPr>
          <p:cNvPicPr>
            <a:picLocks noChangeAspect="1"/>
          </p:cNvPicPr>
          <p:nvPr/>
        </p:nvPicPr>
        <p:blipFill>
          <a:blip r:embed="rId4"/>
          <a:stretch>
            <a:fillRect/>
          </a:stretch>
        </p:blipFill>
        <p:spPr>
          <a:xfrm>
            <a:off x="54067" y="1019993"/>
            <a:ext cx="9144000" cy="3927077"/>
          </a:xfrm>
          <a:prstGeom prst="rect">
            <a:avLst/>
          </a:prstGeom>
        </p:spPr>
      </p:pic>
    </p:spTree>
    <p:extLst>
      <p:ext uri="{BB962C8B-B14F-4D97-AF65-F5344CB8AC3E}">
        <p14:creationId xmlns:p14="http://schemas.microsoft.com/office/powerpoint/2010/main" val="8998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7">
          <a:extLst>
            <a:ext uri="{FF2B5EF4-FFF2-40B4-BE49-F238E27FC236}">
              <a16:creationId xmlns:a16="http://schemas.microsoft.com/office/drawing/2014/main" id="{1569BBCA-1AA5-6D20-6A07-F8C155B0B8AE}"/>
            </a:ext>
          </a:extLst>
        </p:cNvPr>
        <p:cNvGrpSpPr/>
        <p:nvPr/>
      </p:nvGrpSpPr>
      <p:grpSpPr>
        <a:xfrm>
          <a:off x="0" y="0"/>
          <a:ext cx="0" cy="0"/>
          <a:chOff x="0" y="0"/>
          <a:chExt cx="0" cy="0"/>
        </a:xfrm>
      </p:grpSpPr>
      <p:sp>
        <p:nvSpPr>
          <p:cNvPr id="315" name="Google Shape;315;p53">
            <a:extLst>
              <a:ext uri="{FF2B5EF4-FFF2-40B4-BE49-F238E27FC236}">
                <a16:creationId xmlns:a16="http://schemas.microsoft.com/office/drawing/2014/main" id="{6BED6A3F-DD24-90A0-123A-7524DBB87D1A}"/>
              </a:ext>
            </a:extLst>
          </p:cNvPr>
          <p:cNvSpPr txBox="1"/>
          <p:nvPr/>
        </p:nvSpPr>
        <p:spPr>
          <a:xfrm>
            <a:off x="1681253" y="370829"/>
            <a:ext cx="193523" cy="207675"/>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a:solidFill>
                <a:srgbClr val="595959"/>
              </a:solidFill>
              <a:latin typeface="Cambria" panose="02040503050406030204" pitchFamily="18" charset="0"/>
              <a:ea typeface="Times New Roman"/>
              <a:cs typeface="Times New Roman"/>
              <a:sym typeface="Times New Roman"/>
            </a:endParaRPr>
          </a:p>
        </p:txBody>
      </p:sp>
      <p:sp>
        <p:nvSpPr>
          <p:cNvPr id="317" name="Google Shape;317;p53">
            <a:extLst>
              <a:ext uri="{FF2B5EF4-FFF2-40B4-BE49-F238E27FC236}">
                <a16:creationId xmlns:a16="http://schemas.microsoft.com/office/drawing/2014/main" id="{AC120019-E0A6-B41F-C91B-8E44253204A5}"/>
              </a:ext>
            </a:extLst>
          </p:cNvPr>
          <p:cNvSpPr/>
          <p:nvPr/>
        </p:nvSpPr>
        <p:spPr>
          <a:xfrm rot="5400000">
            <a:off x="4548082" y="-3711071"/>
            <a:ext cx="3600" cy="90000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00152A"/>
              </a:solidFill>
              <a:latin typeface="Cambria" panose="02040503050406030204" pitchFamily="18" charset="0"/>
              <a:ea typeface="Georgia"/>
              <a:cs typeface="Georgia"/>
              <a:sym typeface="Georgia"/>
            </a:endParaRPr>
          </a:p>
        </p:txBody>
      </p:sp>
      <p:pic>
        <p:nvPicPr>
          <p:cNvPr id="22" name="Google Shape;289;p52">
            <a:extLst>
              <a:ext uri="{FF2B5EF4-FFF2-40B4-BE49-F238E27FC236}">
                <a16:creationId xmlns:a16="http://schemas.microsoft.com/office/drawing/2014/main" id="{4AF29681-9F9F-1CCF-BA94-9ACCF173E746}"/>
              </a:ext>
            </a:extLst>
          </p:cNvPr>
          <p:cNvPicPr preferRelativeResize="0"/>
          <p:nvPr/>
        </p:nvPicPr>
        <p:blipFill rotWithShape="1">
          <a:blip r:embed="rId3">
            <a:alphaModFix/>
          </a:blip>
          <a:srcRect t="15373" b="11545"/>
          <a:stretch/>
        </p:blipFill>
        <p:spPr>
          <a:xfrm>
            <a:off x="8109284" y="0"/>
            <a:ext cx="1034716" cy="235257"/>
          </a:xfrm>
          <a:prstGeom prst="rect">
            <a:avLst/>
          </a:prstGeom>
          <a:noFill/>
          <a:ln>
            <a:noFill/>
          </a:ln>
        </p:spPr>
      </p:pic>
      <p:sp>
        <p:nvSpPr>
          <p:cNvPr id="2" name="Google Shape;314;p53">
            <a:extLst>
              <a:ext uri="{FF2B5EF4-FFF2-40B4-BE49-F238E27FC236}">
                <a16:creationId xmlns:a16="http://schemas.microsoft.com/office/drawing/2014/main" id="{E9AD990D-3D4D-9C3F-4C13-54F34917C8C4}"/>
              </a:ext>
            </a:extLst>
          </p:cNvPr>
          <p:cNvSpPr txBox="1"/>
          <p:nvPr/>
        </p:nvSpPr>
        <p:spPr>
          <a:xfrm>
            <a:off x="911754" y="322504"/>
            <a:ext cx="7428627" cy="406840"/>
          </a:xfrm>
          <a:prstGeom prst="rect">
            <a:avLst/>
          </a:prstGeom>
          <a:noFill/>
          <a:ln>
            <a:noFill/>
          </a:ln>
        </p:spPr>
        <p:txBody>
          <a:bodyPr spcFirstLastPara="1" wrap="square" lIns="68575" tIns="34275" rIns="68575" bIns="34275" anchor="t" anchorCtr="0">
            <a:noAutofit/>
          </a:bodyPr>
          <a:lstStyle/>
          <a:p>
            <a:pPr algn="ctr"/>
            <a:r>
              <a:rPr lang="fr-FR" sz="1700" b="1" dirty="0">
                <a:solidFill>
                  <a:srgbClr val="001B36"/>
                </a:solidFill>
                <a:latin typeface="Cambria" panose="02040503050406030204" pitchFamily="18" charset="0"/>
                <a:ea typeface="Cambria"/>
                <a:cs typeface="Georgia"/>
                <a:sym typeface="Cambria"/>
              </a:rPr>
              <a:t>Cadence Lignes site TM/Exemple carnet de commande</a:t>
            </a:r>
          </a:p>
          <a:p>
            <a:pPr algn="ctr"/>
            <a:endParaRPr lang="fr-FR" sz="1700" b="1" dirty="0">
              <a:latin typeface="Cambria" panose="02040503050406030204" pitchFamily="18" charset="0"/>
              <a:ea typeface="Georgia"/>
              <a:cs typeface="Georgia"/>
              <a:sym typeface="Georgia"/>
            </a:endParaRPr>
          </a:p>
          <a:p>
            <a:pPr lvl="0" algn="ctr"/>
            <a:endParaRPr lang="fr-FR" sz="1700" b="1" dirty="0">
              <a:latin typeface="Cambria" panose="02040503050406030204" pitchFamily="18" charset="0"/>
              <a:ea typeface="Georgia"/>
              <a:cs typeface="Georgia"/>
              <a:sym typeface="Georgia"/>
            </a:endParaRPr>
          </a:p>
        </p:txBody>
      </p:sp>
      <p:pic>
        <p:nvPicPr>
          <p:cNvPr id="8" name="Image 7">
            <a:extLst>
              <a:ext uri="{FF2B5EF4-FFF2-40B4-BE49-F238E27FC236}">
                <a16:creationId xmlns:a16="http://schemas.microsoft.com/office/drawing/2014/main" id="{F9E759B2-4FFF-26E0-2E65-B3A666F3B18D}"/>
              </a:ext>
            </a:extLst>
          </p:cNvPr>
          <p:cNvPicPr>
            <a:picLocks noChangeAspect="1"/>
          </p:cNvPicPr>
          <p:nvPr/>
        </p:nvPicPr>
        <p:blipFill>
          <a:blip r:embed="rId4"/>
          <a:stretch>
            <a:fillRect/>
          </a:stretch>
        </p:blipFill>
        <p:spPr>
          <a:xfrm>
            <a:off x="0" y="906318"/>
            <a:ext cx="9144000" cy="1036788"/>
          </a:xfrm>
          <a:prstGeom prst="rect">
            <a:avLst/>
          </a:prstGeom>
        </p:spPr>
      </p:pic>
      <p:sp>
        <p:nvSpPr>
          <p:cNvPr id="11" name="ZoneTexte 10">
            <a:extLst>
              <a:ext uri="{FF2B5EF4-FFF2-40B4-BE49-F238E27FC236}">
                <a16:creationId xmlns:a16="http://schemas.microsoft.com/office/drawing/2014/main" id="{0B2CB3D7-1860-A4DF-CE20-A437B0040AEF}"/>
              </a:ext>
            </a:extLst>
          </p:cNvPr>
          <p:cNvSpPr txBox="1"/>
          <p:nvPr/>
        </p:nvSpPr>
        <p:spPr>
          <a:xfrm>
            <a:off x="460228" y="2240583"/>
            <a:ext cx="2573642" cy="276999"/>
          </a:xfrm>
          <a:prstGeom prst="rect">
            <a:avLst/>
          </a:prstGeom>
          <a:noFill/>
        </p:spPr>
        <p:txBody>
          <a:bodyPr wrap="square" rtlCol="0">
            <a:spAutoFit/>
          </a:bodyPr>
          <a:lstStyle/>
          <a:p>
            <a:r>
              <a:rPr lang="fr-MA" sz="1200" b="1" u="sng" dirty="0"/>
              <a:t>Carnet de commande </a:t>
            </a:r>
          </a:p>
        </p:txBody>
      </p:sp>
      <p:pic>
        <p:nvPicPr>
          <p:cNvPr id="6" name="Image 5">
            <a:extLst>
              <a:ext uri="{FF2B5EF4-FFF2-40B4-BE49-F238E27FC236}">
                <a16:creationId xmlns:a16="http://schemas.microsoft.com/office/drawing/2014/main" id="{E66B3A43-59D4-5118-85E1-0F7654C0465B}"/>
              </a:ext>
            </a:extLst>
          </p:cNvPr>
          <p:cNvPicPr>
            <a:picLocks noChangeAspect="1"/>
          </p:cNvPicPr>
          <p:nvPr/>
        </p:nvPicPr>
        <p:blipFill>
          <a:blip r:embed="rId5"/>
          <a:stretch>
            <a:fillRect/>
          </a:stretch>
        </p:blipFill>
        <p:spPr>
          <a:xfrm>
            <a:off x="658928" y="2815059"/>
            <a:ext cx="6057900" cy="1661160"/>
          </a:xfrm>
          <a:prstGeom prst="rect">
            <a:avLst/>
          </a:prstGeom>
        </p:spPr>
      </p:pic>
    </p:spTree>
    <p:extLst>
      <p:ext uri="{BB962C8B-B14F-4D97-AF65-F5344CB8AC3E}">
        <p14:creationId xmlns:p14="http://schemas.microsoft.com/office/powerpoint/2010/main" val="6047820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2032</TotalTime>
  <Words>445</Words>
  <Application>Microsoft Office PowerPoint</Application>
  <PresentationFormat>Affichage à l'écran (16:9)</PresentationFormat>
  <Paragraphs>50</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14</vt:i4>
      </vt:variant>
    </vt:vector>
  </HeadingPairs>
  <TitlesOfParts>
    <vt:vector size="20" baseType="lpstr">
      <vt:lpstr>Open Sans Light</vt:lpstr>
      <vt:lpstr>Calibri</vt:lpstr>
      <vt:lpstr>Cambria</vt:lpstr>
      <vt:lpstr>Arial</vt:lpstr>
      <vt:lpstr>Simple Light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Salma Ait EL Hadj Omar</dc:creator>
  <cp:lastModifiedBy>Amal EL HAJJOUJI</cp:lastModifiedBy>
  <cp:revision>169</cp:revision>
  <cp:lastPrinted>2018-10-23T11:33:38Z</cp:lastPrinted>
  <dcterms:modified xsi:type="dcterms:W3CDTF">2026-05-18T14:15:20Z</dcterms:modified>
</cp:coreProperties>
</file>